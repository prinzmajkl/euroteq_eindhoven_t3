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members of the jury and mentors. Today, we present PlumeTrace - an autonomous, closed-loop Digital Twin system designed to protect urban rivers.</a:t>
            </a:r>
          </a:p>
          <a:p/>
          <a:p>
            <a:r>
              <a:t>Across Europe, urban rivers are essential for recreation, drinking water, and ecology. Yet beneath the surface, they face sudden, unmonitored pollution events that traditional testing completely misses.</a:t>
            </a:r>
          </a:p>
          <a:p/>
          <a:p>
            <a:r>
              <a:t>Using the Pegnitz River in Nuremberg as our testbed, we demonstrate how coupling an autonomous robotic agent with a real-time predictive Digital Twin transforms water quality monitoring from blind, infrequent sampling into actionable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Pegnitz River? Because it represents four urgent pressures colliding in one urban corridor:</a:t>
            </a:r>
          </a:p>
          <a:p/>
          <a:p>
            <a:r>
              <a:t>First, Public Health: Surfers at the Fuchslochwelle wave and waders face raw sewage contamination after storms, creating immediate health risks.</a:t>
            </a:r>
          </a:p>
          <a:p>
            <a:r>
              <a:t>Second, Urban Infrastructure: Nuremberg's 1,500 km sewer network overspills during heavy rains. Modernizing a single retention basin costs between 1.5 and 5 million euros - cities cannot afford to invest blindly.</a:t>
            </a:r>
          </a:p>
          <a:p>
            <a:r>
              <a:t>Third, Agriculture: Intensive vegetable farming in Knoblauchsland leaches nitrates into alluvial drinking water aquifers under strict EU penalties.</a:t>
            </a:r>
          </a:p>
          <a:p>
            <a:r>
              <a:t>And fourth, Climate Drought: Summer heat reduces river discharge, collapsing oxygen levels below 3 mg/L and killing fish.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this, we looked at what municipal authorities currently measure.</a:t>
            </a:r>
          </a:p>
          <a:p/>
          <a:p>
            <a:r>
              <a:t>In Nuremberg, the drainage service SUN tracks eight standard parameters: temperature, pH, conductivity, turbidity, dissolved oxygen, and nutrients like ammonium, nitrate, and phosphate. Ammonium is the critical chemical fingerprint of raw sewage.</a:t>
            </a:r>
          </a:p>
          <a:p/>
          <a:p>
            <a:r>
              <a:t>The sampling gap is two-fold: automated sensors are confined to a few fixed points, while manual sampling happens as rarely as once a month with days of lab delay. The result: acute plumes arrive, cause damage, and clear completely undetected.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monitoring failure creates acute problems for our two key stakeholder groups today:</a:t>
            </a:r>
          </a:p>
          <a:p/>
          <a:p>
            <a:r>
              <a:t>First, Water Authorities like SUN and WWA: They must invest millions of euros into retention basins, but without spatial plume tracking, they are forced to invest blindly without knowing which overflow pipes cause the greatest damage. Furthermore, laboratory delays mean they only learn of acute spills days after they have already washed away.</a:t>
            </a:r>
          </a:p>
          <a:p/>
          <a:p>
            <a:r>
              <a:t>Second, Citizens and Surfers: People entering the Pegnitz at the Fuchslochwelle or in city parks have zero real-time warning. They unknowingly expose themselves to acute bacterial contamination because municipal data is either delayed by days or buried in complex chemical reports.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overarching technical solution: PlumeTrace connects physical robotics, cloud digital twinning, and municipal decision-making into one unified ecosystem.</a:t>
            </a:r>
          </a:p>
          <a:p/>
          <a:p>
            <a:r>
              <a:t>First, on the water: An Autonomous Surface Vessel continuously patrols the Pegnitz corridor, equipped with chemical sensors for ammonium and dissolved oxygen, and 360-degree LiDAR mapping riverbank morphology.</a:t>
            </a:r>
          </a:p>
          <a:p/>
          <a:p>
            <a:r>
              <a:t>Second, in the cloud: A predictive Digital Twin runs hydrodynamic advection-dispersion modeling. By assimilating real-time weather radar from the German Weather Service (DWD) and river discharge, the twin anticipates where storm runoff will arrive and tells the robot where to navigate next.</a:t>
            </a:r>
          </a:p>
          <a:p/>
          <a:p>
            <a:r>
              <a:t>Third, in the city hall: A 3D geospatial dashboard built on CesiumJS and Bavarian LOD2 OpenData translates raw data into outfall asset health scores, enabling targeted infrastructure investment and immediate public warnings.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innovation of PlumeTrace is its Autonomous Closed Loop.</a:t>
            </a:r>
          </a:p>
          <a:p/>
          <a:p>
            <a:r>
              <a:t>Instead of driving a static patrol line, our system continuously recomputes waypoints based on a 4D objective function: tracking chemical gradients upstream, anticipating rain runoff via live weather radar, and ensuring older areas are revisited.</a:t>
            </a:r>
          </a:p>
          <a:p/>
          <a:p>
            <a:r>
              <a:t>Why does digital twinning beat traditional static sensors? Static probes suffer from point dilution: they tell you pollution passed, but cannot identify where it originated. By coupling physical sensing with predictive twin simulation, we pinpoint the exact leaking outfall in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how do stakeholders interact with PlumeTrace?</a:t>
            </a:r>
          </a:p>
          <a:p/>
          <a:p>
            <a:r>
              <a:t>For Water Authorities (SUN &amp; WWA): We provide concrete asset intelligence. By assigning health scores to specific outfall IDs, we provide the empirical justification needed to prioritize multi-million euro retention basin expansions.</a:t>
            </a:r>
          </a:p>
          <a:p/>
          <a:p>
            <a:r>
              <a:t>For Citizens and Surfers: We expose the Digital Twin via the Model Context Protocol (MCP). Anyone can ask an AI assistant: 'Can I surf at the Fuchslochwelle wave today?' or 'Is the river safe for my dog right now?'. The AI queries live telemetry and forecasts, returning a clear traffic light advisory (Green, Yellow, or Red). This transforms complex environmental chemistry into immediate, transparent public safety.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jpeg"/>
          <p:cNvPicPr>
            <a:picLocks noChangeAspect="1"/>
          </p:cNvPicPr>
          <p:nvPr/>
        </p:nvPicPr>
        <p:blipFill>
          <a:blip r:embed="rId2"/>
          <a:stretch>
            <a:fillRect/>
          </a:stretch>
        </p:blipFill>
        <p:spPr>
          <a:xfrm>
            <a:off x="1280160" y="1828800"/>
            <a:ext cx="3108960" cy="3108960"/>
          </a:xfrm>
          <a:prstGeom prst="rect">
            <a:avLst/>
          </a:prstGeom>
        </p:spPr>
      </p:pic>
      <p:sp>
        <p:nvSpPr>
          <p:cNvPr id="3" name="TextBox 2"/>
          <p:cNvSpPr txBox="1"/>
          <p:nvPr/>
        </p:nvSpPr>
        <p:spPr>
          <a:xfrm>
            <a:off x="4754880" y="2011680"/>
            <a:ext cx="6675120" cy="2743200"/>
          </a:xfrm>
          <a:prstGeom prst="rect">
            <a:avLst/>
          </a:prstGeom>
          <a:noFill/>
        </p:spPr>
        <p:txBody>
          <a:bodyPr wrap="square" anchor="ctr" lIns="0" tIns="0" rIns="0" bIns="0">
            <a:spAutoFit/>
          </a:bodyPr>
          <a:lstStyle/>
          <a:p>
            <a:pPr algn="l">
              <a:spcAft>
                <a:spcPts val="1400"/>
              </a:spcAft>
              <a:defRPr sz="6400" b="1">
                <a:solidFill>
                  <a:srgbClr val="219EBC"/>
                </a:solidFill>
                <a:latin typeface="Calibri"/>
              </a:defRPr>
            </a:pPr>
            <a:r>
              <a:t>PlumeTrace</a:t>
            </a:r>
          </a:p>
          <a:p>
            <a:pPr algn="l">
              <a:defRPr sz="2600" b="1">
                <a:solidFill>
                  <a:srgbClr val="023047"/>
                </a:solidFill>
                <a:latin typeface="Calibri"/>
              </a:defRPr>
            </a:pPr>
            <a:r>
              <a:t>Autonomous Water Protection for the Pegnitz River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anchor="t" lIns="0" tIns="0" rIns="0" bIns="0">
            <a:spAutoFit/>
          </a:bodyPr>
          <a:lstStyle/>
          <a:p>
            <a:pPr algn="l">
              <a:defRPr sz="3800" b="1">
                <a:solidFill>
                  <a:srgbClr val="023047"/>
                </a:solidFill>
                <a:latin typeface="Calibri"/>
              </a:defRPr>
            </a:pPr>
            <a:r>
              <a:t>Why Pegnitz</a:t>
            </a:r>
          </a:p>
        </p:txBody>
      </p:sp>
      <p:sp>
        <p:nvSpPr>
          <p:cNvPr id="3" name="Rounded Rectangle 2"/>
          <p:cNvSpPr/>
          <p:nvPr/>
        </p:nvSpPr>
        <p:spPr>
          <a:xfrm>
            <a:off x="731520" y="1508760"/>
            <a:ext cx="5180990" cy="224028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ealth.png"/>
          <p:cNvPicPr>
            <a:picLocks noChangeAspect="1"/>
          </p:cNvPicPr>
          <p:nvPr/>
        </p:nvPicPr>
        <p:blipFill>
          <a:blip r:embed="rId2"/>
          <a:stretch>
            <a:fillRect/>
          </a:stretch>
        </p:blipFill>
        <p:spPr>
          <a:xfrm>
            <a:off x="1024128" y="1801368"/>
            <a:ext cx="475488" cy="475488"/>
          </a:xfrm>
          <a:prstGeom prst="rect">
            <a:avLst/>
          </a:prstGeom>
        </p:spPr>
      </p:pic>
      <p:sp>
        <p:nvSpPr>
          <p:cNvPr id="5" name="TextBox 4"/>
          <p:cNvSpPr txBox="1"/>
          <p:nvPr/>
        </p:nvSpPr>
        <p:spPr>
          <a:xfrm>
            <a:off x="1609344" y="1764792"/>
            <a:ext cx="4037990" cy="594360"/>
          </a:xfrm>
          <a:prstGeom prst="rect">
            <a:avLst/>
          </a:prstGeom>
          <a:noFill/>
        </p:spPr>
        <p:txBody>
          <a:bodyPr wrap="square" anchor="t" lIns="0" tIns="0" rIns="0" bIns="0">
            <a:spAutoFit/>
          </a:bodyPr>
          <a:lstStyle/>
          <a:p>
            <a:pPr algn="l">
              <a:defRPr sz="2100" b="1">
                <a:solidFill>
                  <a:srgbClr val="023047"/>
                </a:solidFill>
                <a:latin typeface="Calibri"/>
              </a:defRPr>
            </a:pPr>
            <a:r>
              <a:t>Public Health</a:t>
            </a:r>
          </a:p>
        </p:txBody>
      </p:sp>
      <p:sp>
        <p:nvSpPr>
          <p:cNvPr id="6" name="TextBox 5"/>
          <p:cNvSpPr txBox="1"/>
          <p:nvPr/>
        </p:nvSpPr>
        <p:spPr>
          <a:xfrm>
            <a:off x="1051560" y="2377440"/>
            <a:ext cx="4540910" cy="128016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Raw sewage spikes after convective rainfall</a:t>
            </a:r>
          </a:p>
          <a:p>
            <a:pPr algn="l">
              <a:spcBef>
                <a:spcPts val="0"/>
              </a:spcBef>
              <a:spcAft>
                <a:spcPts val="1000"/>
              </a:spcAft>
              <a:defRPr sz="1600">
                <a:solidFill>
                  <a:srgbClr val="023047"/>
                </a:solidFill>
                <a:latin typeface="Calibri"/>
              </a:defRPr>
            </a:pPr>
            <a:r>
              <a:t>-  Instant health risk for surfers, waders, and park visitors</a:t>
            </a:r>
          </a:p>
        </p:txBody>
      </p:sp>
      <p:sp>
        <p:nvSpPr>
          <p:cNvPr id="7" name="Rounded Rectangle 6"/>
          <p:cNvSpPr/>
          <p:nvPr/>
        </p:nvSpPr>
        <p:spPr>
          <a:xfrm>
            <a:off x="6278270" y="1508760"/>
            <a:ext cx="5180990" cy="224028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orm_pipe.png"/>
          <p:cNvPicPr>
            <a:picLocks noChangeAspect="1"/>
          </p:cNvPicPr>
          <p:nvPr/>
        </p:nvPicPr>
        <p:blipFill>
          <a:blip r:embed="rId3"/>
          <a:stretch>
            <a:fillRect/>
          </a:stretch>
        </p:blipFill>
        <p:spPr>
          <a:xfrm>
            <a:off x="6570878" y="1801368"/>
            <a:ext cx="475488" cy="475488"/>
          </a:xfrm>
          <a:prstGeom prst="rect">
            <a:avLst/>
          </a:prstGeom>
        </p:spPr>
      </p:pic>
      <p:sp>
        <p:nvSpPr>
          <p:cNvPr id="9" name="TextBox 8"/>
          <p:cNvSpPr txBox="1"/>
          <p:nvPr/>
        </p:nvSpPr>
        <p:spPr>
          <a:xfrm>
            <a:off x="7156094" y="1764792"/>
            <a:ext cx="4037990" cy="594360"/>
          </a:xfrm>
          <a:prstGeom prst="rect">
            <a:avLst/>
          </a:prstGeom>
          <a:noFill/>
        </p:spPr>
        <p:txBody>
          <a:bodyPr wrap="square" anchor="t" lIns="0" tIns="0" rIns="0" bIns="0">
            <a:spAutoFit/>
          </a:bodyPr>
          <a:lstStyle/>
          <a:p>
            <a:pPr algn="l">
              <a:defRPr sz="2100" b="1">
                <a:solidFill>
                  <a:srgbClr val="023047"/>
                </a:solidFill>
                <a:latin typeface="Calibri"/>
              </a:defRPr>
            </a:pPr>
            <a:r>
              <a:t>Sewer Overflows (CSOs)</a:t>
            </a:r>
          </a:p>
        </p:txBody>
      </p:sp>
      <p:sp>
        <p:nvSpPr>
          <p:cNvPr id="10" name="TextBox 9"/>
          <p:cNvSpPr txBox="1"/>
          <p:nvPr/>
        </p:nvSpPr>
        <p:spPr>
          <a:xfrm>
            <a:off x="6598310" y="2377440"/>
            <a:ext cx="4540910" cy="128016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1,500 km municipal network overloaded by storms</a:t>
            </a:r>
          </a:p>
          <a:p>
            <a:pPr algn="l">
              <a:spcBef>
                <a:spcPts val="0"/>
              </a:spcBef>
              <a:spcAft>
                <a:spcPts val="1000"/>
              </a:spcAft>
              <a:defRPr sz="1600">
                <a:solidFill>
                  <a:srgbClr val="023047"/>
                </a:solidFill>
                <a:latin typeface="Calibri"/>
              </a:defRPr>
            </a:pPr>
            <a:r>
              <a:t>-  1.5M - 5M+ EUR cost per retention basin</a:t>
            </a:r>
          </a:p>
        </p:txBody>
      </p:sp>
      <p:sp>
        <p:nvSpPr>
          <p:cNvPr id="11" name="Rounded Rectangle 10"/>
          <p:cNvSpPr/>
          <p:nvPr/>
        </p:nvSpPr>
        <p:spPr>
          <a:xfrm>
            <a:off x="731520" y="3977639"/>
            <a:ext cx="5180990" cy="224028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griculture.png"/>
          <p:cNvPicPr>
            <a:picLocks noChangeAspect="1"/>
          </p:cNvPicPr>
          <p:nvPr/>
        </p:nvPicPr>
        <p:blipFill>
          <a:blip r:embed="rId4"/>
          <a:stretch>
            <a:fillRect/>
          </a:stretch>
        </p:blipFill>
        <p:spPr>
          <a:xfrm>
            <a:off x="1024128" y="4270247"/>
            <a:ext cx="475488" cy="475488"/>
          </a:xfrm>
          <a:prstGeom prst="rect">
            <a:avLst/>
          </a:prstGeom>
        </p:spPr>
      </p:pic>
      <p:sp>
        <p:nvSpPr>
          <p:cNvPr id="13" name="TextBox 12"/>
          <p:cNvSpPr txBox="1"/>
          <p:nvPr/>
        </p:nvSpPr>
        <p:spPr>
          <a:xfrm>
            <a:off x="1609344" y="4233671"/>
            <a:ext cx="4037990" cy="594360"/>
          </a:xfrm>
          <a:prstGeom prst="rect">
            <a:avLst/>
          </a:prstGeom>
          <a:noFill/>
        </p:spPr>
        <p:txBody>
          <a:bodyPr wrap="square" anchor="t" lIns="0" tIns="0" rIns="0" bIns="0">
            <a:spAutoFit/>
          </a:bodyPr>
          <a:lstStyle/>
          <a:p>
            <a:pPr algn="l">
              <a:defRPr sz="2100" b="1">
                <a:solidFill>
                  <a:srgbClr val="023047"/>
                </a:solidFill>
                <a:latin typeface="Calibri"/>
              </a:defRPr>
            </a:pPr>
            <a:r>
              <a:t>Knoblauchsland Agriculture</a:t>
            </a:r>
          </a:p>
        </p:txBody>
      </p:sp>
      <p:sp>
        <p:nvSpPr>
          <p:cNvPr id="14" name="TextBox 13"/>
          <p:cNvSpPr txBox="1"/>
          <p:nvPr/>
        </p:nvSpPr>
        <p:spPr>
          <a:xfrm>
            <a:off x="1051560" y="4846319"/>
            <a:ext cx="4540910" cy="128016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Nitrate leaching into drinking water aquifers</a:t>
            </a:r>
          </a:p>
          <a:p>
            <a:pPr algn="l">
              <a:spcBef>
                <a:spcPts val="0"/>
              </a:spcBef>
              <a:spcAft>
                <a:spcPts val="1000"/>
              </a:spcAft>
              <a:defRPr sz="1600">
                <a:solidFill>
                  <a:srgbClr val="023047"/>
                </a:solidFill>
                <a:latin typeface="Calibri"/>
              </a:defRPr>
            </a:pPr>
            <a:r>
              <a:t>-  Strict EU limits and compliance penalties</a:t>
            </a:r>
          </a:p>
        </p:txBody>
      </p:sp>
      <p:sp>
        <p:nvSpPr>
          <p:cNvPr id="15" name="Rounded Rectangle 14"/>
          <p:cNvSpPr/>
          <p:nvPr/>
        </p:nvSpPr>
        <p:spPr>
          <a:xfrm>
            <a:off x="6278270" y="3977639"/>
            <a:ext cx="5180990" cy="224028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rought.png"/>
          <p:cNvPicPr>
            <a:picLocks noChangeAspect="1"/>
          </p:cNvPicPr>
          <p:nvPr/>
        </p:nvPicPr>
        <p:blipFill>
          <a:blip r:embed="rId5"/>
          <a:stretch>
            <a:fillRect/>
          </a:stretch>
        </p:blipFill>
        <p:spPr>
          <a:xfrm>
            <a:off x="6570878" y="4270247"/>
            <a:ext cx="475488" cy="475488"/>
          </a:xfrm>
          <a:prstGeom prst="rect">
            <a:avLst/>
          </a:prstGeom>
        </p:spPr>
      </p:pic>
      <p:sp>
        <p:nvSpPr>
          <p:cNvPr id="17" name="TextBox 16"/>
          <p:cNvSpPr txBox="1"/>
          <p:nvPr/>
        </p:nvSpPr>
        <p:spPr>
          <a:xfrm>
            <a:off x="7156094" y="4233671"/>
            <a:ext cx="4037990" cy="594360"/>
          </a:xfrm>
          <a:prstGeom prst="rect">
            <a:avLst/>
          </a:prstGeom>
          <a:noFill/>
        </p:spPr>
        <p:txBody>
          <a:bodyPr wrap="square" anchor="t" lIns="0" tIns="0" rIns="0" bIns="0">
            <a:spAutoFit/>
          </a:bodyPr>
          <a:lstStyle/>
          <a:p>
            <a:pPr algn="l">
              <a:defRPr sz="2100" b="1">
                <a:solidFill>
                  <a:srgbClr val="023047"/>
                </a:solidFill>
                <a:latin typeface="Calibri"/>
              </a:defRPr>
            </a:pPr>
            <a:r>
              <a:t>Summer Heat and Drought</a:t>
            </a:r>
          </a:p>
        </p:txBody>
      </p:sp>
      <p:sp>
        <p:nvSpPr>
          <p:cNvPr id="18" name="TextBox 17"/>
          <p:cNvSpPr txBox="1"/>
          <p:nvPr/>
        </p:nvSpPr>
        <p:spPr>
          <a:xfrm>
            <a:off x="6598310" y="4846319"/>
            <a:ext cx="4540910" cy="128016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Low flow concentrates urban pollutants</a:t>
            </a:r>
          </a:p>
          <a:p>
            <a:pPr algn="l">
              <a:spcBef>
                <a:spcPts val="0"/>
              </a:spcBef>
              <a:spcAft>
                <a:spcPts val="1000"/>
              </a:spcAft>
              <a:defRPr sz="1600">
                <a:solidFill>
                  <a:srgbClr val="023047"/>
                </a:solidFill>
                <a:latin typeface="Calibri"/>
              </a:defRPr>
            </a:pPr>
            <a:r>
              <a:t>-  Dissolved oxygen drops &lt; 3 mg/L (fish kills)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anchor="t" lIns="0" tIns="0" rIns="0" bIns="0">
            <a:spAutoFit/>
          </a:bodyPr>
          <a:lstStyle/>
          <a:p>
            <a:pPr algn="l">
              <a:defRPr sz="3800" b="1">
                <a:solidFill>
                  <a:srgbClr val="023047"/>
                </a:solidFill>
                <a:latin typeface="Calibri"/>
              </a:defRPr>
            </a:pPr>
            <a:r>
              <a:t>Current Monitoring</a:t>
            </a:r>
          </a:p>
        </p:txBody>
      </p:sp>
      <p:sp>
        <p:nvSpPr>
          <p:cNvPr id="3" name="Rounded Rectangle 2"/>
          <p:cNvSpPr/>
          <p:nvPr/>
        </p:nvSpPr>
        <p:spPr>
          <a:xfrm>
            <a:off x="731520" y="1508760"/>
            <a:ext cx="5180990" cy="365760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unicipal_sensor.png"/>
          <p:cNvPicPr>
            <a:picLocks noChangeAspect="1"/>
          </p:cNvPicPr>
          <p:nvPr/>
        </p:nvPicPr>
        <p:blipFill>
          <a:blip r:embed="rId2"/>
          <a:stretch>
            <a:fillRect/>
          </a:stretch>
        </p:blipFill>
        <p:spPr>
          <a:xfrm>
            <a:off x="1024128" y="1801368"/>
            <a:ext cx="475488" cy="475488"/>
          </a:xfrm>
          <a:prstGeom prst="rect">
            <a:avLst/>
          </a:prstGeom>
        </p:spPr>
      </p:pic>
      <p:sp>
        <p:nvSpPr>
          <p:cNvPr id="5" name="TextBox 4"/>
          <p:cNvSpPr txBox="1"/>
          <p:nvPr/>
        </p:nvSpPr>
        <p:spPr>
          <a:xfrm>
            <a:off x="1609344" y="1764792"/>
            <a:ext cx="4037990" cy="594360"/>
          </a:xfrm>
          <a:prstGeom prst="rect">
            <a:avLst/>
          </a:prstGeom>
          <a:noFill/>
        </p:spPr>
        <p:txBody>
          <a:bodyPr wrap="square" anchor="t" lIns="0" tIns="0" rIns="0" bIns="0">
            <a:spAutoFit/>
          </a:bodyPr>
          <a:lstStyle/>
          <a:p>
            <a:pPr algn="l">
              <a:defRPr sz="2200" b="1">
                <a:solidFill>
                  <a:srgbClr val="023047"/>
                </a:solidFill>
                <a:latin typeface="Calibri"/>
              </a:defRPr>
            </a:pPr>
            <a:r>
              <a:t>Municipal Authorities</a:t>
            </a:r>
          </a:p>
          <a:p>
            <a:pPr algn="l">
              <a:spcBef>
                <a:spcPts val="300"/>
              </a:spcBef>
              <a:defRPr sz="1300" b="1">
                <a:solidFill>
                  <a:srgbClr val="219EBC"/>
                </a:solidFill>
                <a:latin typeface="Calibri"/>
              </a:defRPr>
            </a:pPr>
            <a:r>
              <a:t>Stadtentwässerung Nürnberg (SUN) &amp; WWA</a:t>
            </a:r>
          </a:p>
        </p:txBody>
      </p:sp>
      <p:sp>
        <p:nvSpPr>
          <p:cNvPr id="6" name="TextBox 5"/>
          <p:cNvSpPr txBox="1"/>
          <p:nvPr/>
        </p:nvSpPr>
        <p:spPr>
          <a:xfrm>
            <a:off x="1051560" y="2468880"/>
            <a:ext cx="4540910" cy="260604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Temperature, pH, conductivity, turbidity</a:t>
            </a:r>
          </a:p>
          <a:p>
            <a:pPr algn="l">
              <a:spcBef>
                <a:spcPts val="0"/>
              </a:spcBef>
              <a:spcAft>
                <a:spcPts val="1000"/>
              </a:spcAft>
              <a:defRPr sz="1600">
                <a:solidFill>
                  <a:srgbClr val="023047"/>
                </a:solidFill>
                <a:latin typeface="Calibri"/>
              </a:defRPr>
            </a:pPr>
            <a:r>
              <a:t>-  Dissolved oxygen and nutrients (Nitrate, Phosphate)</a:t>
            </a:r>
          </a:p>
          <a:p>
            <a:pPr algn="l">
              <a:spcBef>
                <a:spcPts val="0"/>
              </a:spcBef>
              <a:spcAft>
                <a:spcPts val="1000"/>
              </a:spcAft>
              <a:defRPr sz="1600">
                <a:solidFill>
                  <a:srgbClr val="023047"/>
                </a:solidFill>
                <a:latin typeface="Calibri"/>
              </a:defRPr>
            </a:pPr>
            <a:r>
              <a:t>-  Ammonium (NH4+): primary raw sewage tracer</a:t>
            </a:r>
          </a:p>
        </p:txBody>
      </p:sp>
      <p:sp>
        <p:nvSpPr>
          <p:cNvPr id="7" name="Rounded Rectangle 6"/>
          <p:cNvSpPr/>
          <p:nvPr/>
        </p:nvSpPr>
        <p:spPr>
          <a:xfrm>
            <a:off x="6278270" y="1508760"/>
            <a:ext cx="5180990" cy="365760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ampling_gap.png"/>
          <p:cNvPicPr>
            <a:picLocks noChangeAspect="1"/>
          </p:cNvPicPr>
          <p:nvPr/>
        </p:nvPicPr>
        <p:blipFill>
          <a:blip r:embed="rId3"/>
          <a:stretch>
            <a:fillRect/>
          </a:stretch>
        </p:blipFill>
        <p:spPr>
          <a:xfrm>
            <a:off x="6570878" y="1801368"/>
            <a:ext cx="475488" cy="475488"/>
          </a:xfrm>
          <a:prstGeom prst="rect">
            <a:avLst/>
          </a:prstGeom>
        </p:spPr>
      </p:pic>
      <p:sp>
        <p:nvSpPr>
          <p:cNvPr id="9" name="TextBox 8"/>
          <p:cNvSpPr txBox="1"/>
          <p:nvPr/>
        </p:nvSpPr>
        <p:spPr>
          <a:xfrm>
            <a:off x="7156094" y="1764792"/>
            <a:ext cx="4037990" cy="594360"/>
          </a:xfrm>
          <a:prstGeom prst="rect">
            <a:avLst/>
          </a:prstGeom>
          <a:noFill/>
        </p:spPr>
        <p:txBody>
          <a:bodyPr wrap="square" anchor="t" lIns="0" tIns="0" rIns="0" bIns="0">
            <a:spAutoFit/>
          </a:bodyPr>
          <a:lstStyle/>
          <a:p>
            <a:pPr algn="l">
              <a:defRPr sz="2200" b="1">
                <a:solidFill>
                  <a:srgbClr val="023047"/>
                </a:solidFill>
                <a:latin typeface="Calibri"/>
              </a:defRPr>
            </a:pPr>
            <a:r>
              <a:t>The Sampling Gap</a:t>
            </a:r>
          </a:p>
        </p:txBody>
      </p:sp>
      <p:sp>
        <p:nvSpPr>
          <p:cNvPr id="10" name="TextBox 9"/>
          <p:cNvSpPr txBox="1"/>
          <p:nvPr/>
        </p:nvSpPr>
        <p:spPr>
          <a:xfrm>
            <a:off x="6598310" y="2377440"/>
            <a:ext cx="4540910" cy="269748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Automatic sensors: continuous, but confined to few fixed locations</a:t>
            </a:r>
          </a:p>
          <a:p>
            <a:pPr algn="l">
              <a:spcBef>
                <a:spcPts val="0"/>
              </a:spcBef>
              <a:spcAft>
                <a:spcPts val="1000"/>
              </a:spcAft>
              <a:defRPr sz="1600">
                <a:solidFill>
                  <a:srgbClr val="023047"/>
                </a:solidFill>
                <a:latin typeface="Calibri"/>
              </a:defRPr>
            </a:pPr>
            <a:r>
              <a:t>-  Manual grab sampling: often only 1x per month (24-48h lab delay)</a:t>
            </a:r>
          </a:p>
          <a:p>
            <a:pPr algn="l">
              <a:spcBef>
                <a:spcPts val="0"/>
              </a:spcBef>
              <a:spcAft>
                <a:spcPts val="1000"/>
              </a:spcAft>
              <a:defRPr sz="1600">
                <a:solidFill>
                  <a:srgbClr val="023047"/>
                </a:solidFill>
                <a:latin typeface="Calibri"/>
              </a:defRPr>
            </a:pPr>
            <a:r>
              <a:t>-  Convective storm overflows: last only 2 to 4 hours</a:t>
            </a:r>
          </a:p>
        </p:txBody>
      </p:sp>
      <p:sp>
        <p:nvSpPr>
          <p:cNvPr id="11" name="Rounded Rectangle 10"/>
          <p:cNvSpPr/>
          <p:nvPr/>
        </p:nvSpPr>
        <p:spPr>
          <a:xfrm>
            <a:off x="731520" y="5486400"/>
            <a:ext cx="10728655" cy="685800"/>
          </a:xfrm>
          <a:prstGeom prst="roundRect">
            <a:avLst>
              <a:gd name="adj" fmla="val 3500"/>
            </a:avLst>
          </a:prstGeom>
          <a:solidFill>
            <a:srgbClr val="F4F9FC"/>
          </a:solidFill>
          <a:ln w="19050">
            <a:solidFill>
              <a:srgbClr val="219EBC"/>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91440"/>
          <a:lstStyle/>
          <a:p>
            <a:pPr algn="l">
              <a:defRPr sz="1800" b="1">
                <a:solidFill>
                  <a:srgbClr val="FB8500"/>
                </a:solidFill>
                <a:latin typeface="Calibri"/>
              </a:defRPr>
            </a:pPr>
            <a:r>
              <a:t>The Result:  </a:t>
            </a:r>
            <a:r>
              <a:rPr sz="1800" b="1">
                <a:solidFill>
                  <a:srgbClr val="023047"/>
                </a:solidFill>
                <a:latin typeface="Calibri"/>
              </a:rPr>
              <a:t>Plume arrives, causes harm, and clears undetected.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anchor="t" lIns="0" tIns="0" rIns="0" bIns="0">
            <a:spAutoFit/>
          </a:bodyPr>
          <a:lstStyle/>
          <a:p>
            <a:pPr algn="l">
              <a:defRPr sz="3800" b="1">
                <a:solidFill>
                  <a:srgbClr val="023047"/>
                </a:solidFill>
                <a:latin typeface="Calibri"/>
              </a:defRPr>
            </a:pPr>
            <a:r>
              <a:t>Key Stakeholders</a:t>
            </a:r>
          </a:p>
        </p:txBody>
      </p:sp>
      <p:sp>
        <p:nvSpPr>
          <p:cNvPr id="3" name="Rounded Rectangle 2"/>
          <p:cNvSpPr/>
          <p:nvPr/>
        </p:nvSpPr>
        <p:spPr>
          <a:xfrm>
            <a:off x="731520" y="1508760"/>
            <a:ext cx="5180990"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uthority.png"/>
          <p:cNvPicPr>
            <a:picLocks noChangeAspect="1"/>
          </p:cNvPicPr>
          <p:nvPr/>
        </p:nvPicPr>
        <p:blipFill>
          <a:blip r:embed="rId2"/>
          <a:stretch>
            <a:fillRect/>
          </a:stretch>
        </p:blipFill>
        <p:spPr>
          <a:xfrm>
            <a:off x="1024128" y="1801368"/>
            <a:ext cx="475488" cy="475488"/>
          </a:xfrm>
          <a:prstGeom prst="rect">
            <a:avLst/>
          </a:prstGeom>
        </p:spPr>
      </p:pic>
      <p:sp>
        <p:nvSpPr>
          <p:cNvPr id="5" name="TextBox 4"/>
          <p:cNvSpPr txBox="1"/>
          <p:nvPr/>
        </p:nvSpPr>
        <p:spPr>
          <a:xfrm>
            <a:off x="1609344" y="1764792"/>
            <a:ext cx="4037990" cy="594360"/>
          </a:xfrm>
          <a:prstGeom prst="rect">
            <a:avLst/>
          </a:prstGeom>
          <a:noFill/>
        </p:spPr>
        <p:txBody>
          <a:bodyPr wrap="square" anchor="t" lIns="0" tIns="0" rIns="0" bIns="0">
            <a:spAutoFit/>
          </a:bodyPr>
          <a:lstStyle/>
          <a:p>
            <a:pPr algn="l">
              <a:defRPr sz="2200" b="1">
                <a:solidFill>
                  <a:srgbClr val="023047"/>
                </a:solidFill>
                <a:latin typeface="Calibri"/>
              </a:defRPr>
            </a:pPr>
            <a:r>
              <a:t>Water Authorities (WWA, SUN)</a:t>
            </a:r>
          </a:p>
        </p:txBody>
      </p:sp>
      <p:sp>
        <p:nvSpPr>
          <p:cNvPr id="6" name="TextBox 5"/>
          <p:cNvSpPr txBox="1"/>
          <p:nvPr/>
        </p:nvSpPr>
        <p:spPr>
          <a:xfrm>
            <a:off x="1051560" y="2377440"/>
            <a:ext cx="4540910" cy="342900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Cannot locate pollution origin (fixed stations lack spatial tracking)</a:t>
            </a:r>
          </a:p>
          <a:p>
            <a:pPr algn="l">
              <a:spcBef>
                <a:spcPts val="0"/>
              </a:spcBef>
              <a:spcAft>
                <a:spcPts val="1000"/>
              </a:spcAft>
              <a:defRPr sz="1600">
                <a:solidFill>
                  <a:srgbClr val="023047"/>
                </a:solidFill>
                <a:latin typeface="Calibri"/>
              </a:defRPr>
            </a:pPr>
            <a:r>
              <a:t>-  Blind infrastructure spending (1.5M - 5M+ EUR per basin without plume data)</a:t>
            </a:r>
          </a:p>
          <a:p>
            <a:pPr algn="l">
              <a:spcBef>
                <a:spcPts val="0"/>
              </a:spcBef>
              <a:spcAft>
                <a:spcPts val="1000"/>
              </a:spcAft>
              <a:defRPr sz="1600">
                <a:solidFill>
                  <a:srgbClr val="023047"/>
                </a:solidFill>
                <a:latin typeface="Calibri"/>
              </a:defRPr>
            </a:pPr>
            <a:r>
              <a:t>-  Chronic pipe seepage undetected until structural failure</a:t>
            </a:r>
          </a:p>
          <a:p>
            <a:pPr algn="l">
              <a:spcBef>
                <a:spcPts val="0"/>
              </a:spcBef>
              <a:spcAft>
                <a:spcPts val="1000"/>
              </a:spcAft>
              <a:defRPr sz="1600">
                <a:solidFill>
                  <a:srgbClr val="023047"/>
                </a:solidFill>
                <a:latin typeface="Calibri"/>
              </a:defRPr>
            </a:pPr>
            <a:r>
              <a:t>-  Lab results arrive 24-48 hours too late for emergency action</a:t>
            </a:r>
          </a:p>
        </p:txBody>
      </p:sp>
      <p:sp>
        <p:nvSpPr>
          <p:cNvPr id="7" name="Rounded Rectangle 6"/>
          <p:cNvSpPr/>
          <p:nvPr/>
        </p:nvSpPr>
        <p:spPr>
          <a:xfrm>
            <a:off x="6278270" y="1508760"/>
            <a:ext cx="5180990"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tizens_surfer.png"/>
          <p:cNvPicPr>
            <a:picLocks noChangeAspect="1"/>
          </p:cNvPicPr>
          <p:nvPr/>
        </p:nvPicPr>
        <p:blipFill>
          <a:blip r:embed="rId3"/>
          <a:stretch>
            <a:fillRect/>
          </a:stretch>
        </p:blipFill>
        <p:spPr>
          <a:xfrm>
            <a:off x="6570878" y="1801368"/>
            <a:ext cx="475488" cy="475488"/>
          </a:xfrm>
          <a:prstGeom prst="rect">
            <a:avLst/>
          </a:prstGeom>
        </p:spPr>
      </p:pic>
      <p:sp>
        <p:nvSpPr>
          <p:cNvPr id="9" name="TextBox 8"/>
          <p:cNvSpPr txBox="1"/>
          <p:nvPr/>
        </p:nvSpPr>
        <p:spPr>
          <a:xfrm>
            <a:off x="7156094" y="1764792"/>
            <a:ext cx="4037990" cy="594360"/>
          </a:xfrm>
          <a:prstGeom prst="rect">
            <a:avLst/>
          </a:prstGeom>
          <a:noFill/>
        </p:spPr>
        <p:txBody>
          <a:bodyPr wrap="square" anchor="t" lIns="0" tIns="0" rIns="0" bIns="0">
            <a:spAutoFit/>
          </a:bodyPr>
          <a:lstStyle/>
          <a:p>
            <a:pPr algn="l">
              <a:defRPr sz="2200" b="1">
                <a:solidFill>
                  <a:srgbClr val="023047"/>
                </a:solidFill>
                <a:latin typeface="Calibri"/>
              </a:defRPr>
            </a:pPr>
            <a:r>
              <a:t>Citizens and Surfers</a:t>
            </a:r>
          </a:p>
        </p:txBody>
      </p:sp>
      <p:sp>
        <p:nvSpPr>
          <p:cNvPr id="10" name="TextBox 9"/>
          <p:cNvSpPr txBox="1"/>
          <p:nvPr/>
        </p:nvSpPr>
        <p:spPr>
          <a:xfrm>
            <a:off x="6598310" y="2377440"/>
            <a:ext cx="4540910" cy="342900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Zero real-time visibility into water safety</a:t>
            </a:r>
          </a:p>
          <a:p>
            <a:pPr algn="l">
              <a:spcBef>
                <a:spcPts val="0"/>
              </a:spcBef>
              <a:spcAft>
                <a:spcPts val="1000"/>
              </a:spcAft>
              <a:defRPr sz="1600">
                <a:solidFill>
                  <a:srgbClr val="023047"/>
                </a:solidFill>
                <a:latin typeface="Calibri"/>
              </a:defRPr>
            </a:pPr>
            <a:r>
              <a:t>-  Unknowingly enter water during toxic overflow events</a:t>
            </a:r>
          </a:p>
          <a:p>
            <a:pPr algn="l">
              <a:spcBef>
                <a:spcPts val="0"/>
              </a:spcBef>
              <a:spcAft>
                <a:spcPts val="1000"/>
              </a:spcAft>
              <a:defRPr sz="1600">
                <a:solidFill>
                  <a:srgbClr val="023047"/>
                </a:solidFill>
                <a:latin typeface="Calibri"/>
              </a:defRPr>
            </a:pPr>
            <a:r>
              <a:t>-  High risk of gastrointestinal and skin infections</a:t>
            </a:r>
          </a:p>
          <a:p>
            <a:pPr algn="l">
              <a:spcBef>
                <a:spcPts val="0"/>
              </a:spcBef>
              <a:spcAft>
                <a:spcPts val="1000"/>
              </a:spcAft>
              <a:defRPr sz="1600">
                <a:solidFill>
                  <a:srgbClr val="023047"/>
                </a:solidFill>
                <a:latin typeface="Calibri"/>
              </a:defRPr>
            </a:pPr>
            <a:r>
              <a:t>-  Delayed municipal reports provide no immediate guidance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anchor="t" lIns="0" tIns="0" rIns="0" bIns="0">
            <a:spAutoFit/>
          </a:bodyPr>
          <a:lstStyle/>
          <a:p>
            <a:pPr algn="l">
              <a:defRPr sz="3800" b="1">
                <a:solidFill>
                  <a:srgbClr val="023047"/>
                </a:solidFill>
                <a:latin typeface="Calibri"/>
              </a:defRPr>
            </a:pPr>
            <a:r>
              <a:t>The PlumeTrace Architecture</a:t>
            </a:r>
          </a:p>
        </p:txBody>
      </p:sp>
      <p:sp>
        <p:nvSpPr>
          <p:cNvPr id="3" name="Rounded Rectangle 2"/>
          <p:cNvSpPr/>
          <p:nvPr/>
        </p:nvSpPr>
        <p:spPr>
          <a:xfrm>
            <a:off x="731520" y="1508760"/>
            <a:ext cx="3332073"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iver_asv.png"/>
          <p:cNvPicPr>
            <a:picLocks noChangeAspect="1"/>
          </p:cNvPicPr>
          <p:nvPr/>
        </p:nvPicPr>
        <p:blipFill>
          <a:blip r:embed="rId2"/>
          <a:stretch>
            <a:fillRect/>
          </a:stretch>
        </p:blipFill>
        <p:spPr>
          <a:xfrm>
            <a:off x="1024128" y="1801368"/>
            <a:ext cx="475488" cy="475488"/>
          </a:xfrm>
          <a:prstGeom prst="rect">
            <a:avLst/>
          </a:prstGeom>
        </p:spPr>
      </p:pic>
      <p:sp>
        <p:nvSpPr>
          <p:cNvPr id="5" name="TextBox 4"/>
          <p:cNvSpPr txBox="1"/>
          <p:nvPr/>
        </p:nvSpPr>
        <p:spPr>
          <a:xfrm>
            <a:off x="1609344" y="1764792"/>
            <a:ext cx="2189073" cy="594360"/>
          </a:xfrm>
          <a:prstGeom prst="rect">
            <a:avLst/>
          </a:prstGeom>
          <a:noFill/>
        </p:spPr>
        <p:txBody>
          <a:bodyPr wrap="square" anchor="t" lIns="0" tIns="0" rIns="0" bIns="0">
            <a:spAutoFit/>
          </a:bodyPr>
          <a:lstStyle/>
          <a:p>
            <a:pPr algn="l">
              <a:defRPr sz="2000" b="1">
                <a:solidFill>
                  <a:srgbClr val="023047"/>
                </a:solidFill>
                <a:latin typeface="Calibri"/>
              </a:defRPr>
            </a:pPr>
            <a:r>
              <a:t>Autonomous River Robot</a:t>
            </a:r>
          </a:p>
        </p:txBody>
      </p:sp>
      <p:sp>
        <p:nvSpPr>
          <p:cNvPr id="6" name="TextBox 5"/>
          <p:cNvSpPr txBox="1"/>
          <p:nvPr/>
        </p:nvSpPr>
        <p:spPr>
          <a:xfrm>
            <a:off x="1051560" y="2377440"/>
            <a:ext cx="2691993" cy="3429000"/>
          </a:xfrm>
          <a:prstGeom prst="rect">
            <a:avLst/>
          </a:prstGeom>
          <a:noFill/>
        </p:spPr>
        <p:txBody>
          <a:bodyPr wrap="square" anchor="t" lIns="0" tIns="0" rIns="0" bIns="0">
            <a:spAutoFit/>
          </a:bodyPr>
          <a:lstStyle/>
          <a:p>
            <a:pPr algn="l">
              <a:spcBef>
                <a:spcPts val="0"/>
              </a:spcBef>
              <a:spcAft>
                <a:spcPts val="1000"/>
              </a:spcAft>
              <a:defRPr sz="1500">
                <a:solidFill>
                  <a:srgbClr val="023047"/>
                </a:solidFill>
                <a:latin typeface="Calibri"/>
              </a:defRPr>
            </a:pPr>
            <a:r>
              <a:t>-  Autonomous Surface Vessel (ASV) on Pegnitz</a:t>
            </a:r>
          </a:p>
          <a:p>
            <a:pPr algn="l">
              <a:spcBef>
                <a:spcPts val="0"/>
              </a:spcBef>
              <a:spcAft>
                <a:spcPts val="1000"/>
              </a:spcAft>
              <a:defRPr sz="1500">
                <a:solidFill>
                  <a:srgbClr val="023047"/>
                </a:solidFill>
                <a:latin typeface="Calibri"/>
              </a:defRPr>
            </a:pPr>
            <a:r>
              <a:t>-  Continuous chemical payload (Ammonium, DO, pH)</a:t>
            </a:r>
          </a:p>
          <a:p>
            <a:pPr algn="l">
              <a:spcBef>
                <a:spcPts val="0"/>
              </a:spcBef>
              <a:spcAft>
                <a:spcPts val="1000"/>
              </a:spcAft>
              <a:defRPr sz="1500">
                <a:solidFill>
                  <a:srgbClr val="023047"/>
                </a:solidFill>
                <a:latin typeface="Calibri"/>
              </a:defRPr>
            </a:pPr>
            <a:r>
              <a:t>-  360° LiDAR scans riverbank morphology &amp; culverts</a:t>
            </a:r>
          </a:p>
          <a:p>
            <a:pPr algn="l">
              <a:spcBef>
                <a:spcPts val="0"/>
              </a:spcBef>
              <a:spcAft>
                <a:spcPts val="1000"/>
              </a:spcAft>
              <a:defRPr sz="1500">
                <a:solidFill>
                  <a:srgbClr val="023047"/>
                </a:solidFill>
                <a:latin typeface="Calibri"/>
              </a:defRPr>
            </a:pPr>
            <a:r>
              <a:t>-  Edge autonomy with fail-safe return-to-dock</a:t>
            </a:r>
          </a:p>
        </p:txBody>
      </p:sp>
      <p:sp>
        <p:nvSpPr>
          <p:cNvPr id="7" name="Rounded Rectangle 6"/>
          <p:cNvSpPr/>
          <p:nvPr/>
        </p:nvSpPr>
        <p:spPr>
          <a:xfrm>
            <a:off x="4429353" y="1508760"/>
            <a:ext cx="3332073"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oud_twin.png"/>
          <p:cNvPicPr>
            <a:picLocks noChangeAspect="1"/>
          </p:cNvPicPr>
          <p:nvPr/>
        </p:nvPicPr>
        <p:blipFill>
          <a:blip r:embed="rId3"/>
          <a:stretch>
            <a:fillRect/>
          </a:stretch>
        </p:blipFill>
        <p:spPr>
          <a:xfrm>
            <a:off x="4721961" y="1801368"/>
            <a:ext cx="475488" cy="475488"/>
          </a:xfrm>
          <a:prstGeom prst="rect">
            <a:avLst/>
          </a:prstGeom>
        </p:spPr>
      </p:pic>
      <p:sp>
        <p:nvSpPr>
          <p:cNvPr id="9" name="TextBox 8"/>
          <p:cNvSpPr txBox="1"/>
          <p:nvPr/>
        </p:nvSpPr>
        <p:spPr>
          <a:xfrm>
            <a:off x="5307177" y="1764792"/>
            <a:ext cx="2189073" cy="594360"/>
          </a:xfrm>
          <a:prstGeom prst="rect">
            <a:avLst/>
          </a:prstGeom>
          <a:noFill/>
        </p:spPr>
        <p:txBody>
          <a:bodyPr wrap="square" anchor="t" lIns="0" tIns="0" rIns="0" bIns="0">
            <a:spAutoFit/>
          </a:bodyPr>
          <a:lstStyle/>
          <a:p>
            <a:pPr algn="l">
              <a:defRPr sz="2000" b="1">
                <a:solidFill>
                  <a:srgbClr val="023047"/>
                </a:solidFill>
                <a:latin typeface="Calibri"/>
              </a:defRPr>
            </a:pPr>
            <a:r>
              <a:t>Predictive Digital Twin</a:t>
            </a:r>
          </a:p>
        </p:txBody>
      </p:sp>
      <p:sp>
        <p:nvSpPr>
          <p:cNvPr id="10" name="TextBox 9"/>
          <p:cNvSpPr txBox="1"/>
          <p:nvPr/>
        </p:nvSpPr>
        <p:spPr>
          <a:xfrm>
            <a:off x="4749393" y="2377440"/>
            <a:ext cx="2691993" cy="3429000"/>
          </a:xfrm>
          <a:prstGeom prst="rect">
            <a:avLst/>
          </a:prstGeom>
          <a:noFill/>
        </p:spPr>
        <p:txBody>
          <a:bodyPr wrap="square" anchor="t" lIns="0" tIns="0" rIns="0" bIns="0">
            <a:spAutoFit/>
          </a:bodyPr>
          <a:lstStyle/>
          <a:p>
            <a:pPr algn="l">
              <a:spcBef>
                <a:spcPts val="0"/>
              </a:spcBef>
              <a:spcAft>
                <a:spcPts val="1000"/>
              </a:spcAft>
              <a:defRPr sz="1500">
                <a:solidFill>
                  <a:srgbClr val="023047"/>
                </a:solidFill>
                <a:latin typeface="Calibri"/>
              </a:defRPr>
            </a:pPr>
            <a:r>
              <a:t>-  Hydrodynamic river advection-dispersion model</a:t>
            </a:r>
          </a:p>
          <a:p>
            <a:pPr algn="l">
              <a:spcBef>
                <a:spcPts val="0"/>
              </a:spcBef>
              <a:spcAft>
                <a:spcPts val="1000"/>
              </a:spcAft>
              <a:defRPr sz="1500">
                <a:solidFill>
                  <a:srgbClr val="023047"/>
                </a:solidFill>
                <a:latin typeface="Calibri"/>
              </a:defRPr>
            </a:pPr>
            <a:r>
              <a:t>-  Ingests live DWD storm radar &amp; river discharge</a:t>
            </a:r>
          </a:p>
          <a:p>
            <a:pPr algn="l">
              <a:spcBef>
                <a:spcPts val="0"/>
              </a:spcBef>
              <a:spcAft>
                <a:spcPts val="1000"/>
              </a:spcAft>
              <a:defRPr sz="1500">
                <a:solidFill>
                  <a:srgbClr val="023047"/>
                </a:solidFill>
                <a:latin typeface="Calibri"/>
              </a:defRPr>
            </a:pPr>
            <a:r>
              <a:t>-  Multi-objective solver computes optimal sampling</a:t>
            </a:r>
          </a:p>
          <a:p>
            <a:pPr algn="l">
              <a:spcBef>
                <a:spcPts val="0"/>
              </a:spcBef>
              <a:spcAft>
                <a:spcPts val="1000"/>
              </a:spcAft>
              <a:defRPr sz="1500">
                <a:solidFill>
                  <a:srgbClr val="023047"/>
                </a:solidFill>
                <a:latin typeface="Calibri"/>
              </a:defRPr>
            </a:pPr>
            <a:r>
              <a:t>-  Continuously directs robot where to navigate next</a:t>
            </a:r>
          </a:p>
        </p:txBody>
      </p:sp>
      <p:sp>
        <p:nvSpPr>
          <p:cNvPr id="11" name="Rounded Rectangle 10"/>
          <p:cNvSpPr/>
          <p:nvPr/>
        </p:nvSpPr>
        <p:spPr>
          <a:xfrm>
            <a:off x="8127186" y="1508760"/>
            <a:ext cx="3332073"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igital_twin_3d.png"/>
          <p:cNvPicPr>
            <a:picLocks noChangeAspect="1"/>
          </p:cNvPicPr>
          <p:nvPr/>
        </p:nvPicPr>
        <p:blipFill>
          <a:blip r:embed="rId4"/>
          <a:stretch>
            <a:fillRect/>
          </a:stretch>
        </p:blipFill>
        <p:spPr>
          <a:xfrm>
            <a:off x="8419794" y="1801368"/>
            <a:ext cx="475488" cy="475488"/>
          </a:xfrm>
          <a:prstGeom prst="rect">
            <a:avLst/>
          </a:prstGeom>
        </p:spPr>
      </p:pic>
      <p:sp>
        <p:nvSpPr>
          <p:cNvPr id="13" name="TextBox 12"/>
          <p:cNvSpPr txBox="1"/>
          <p:nvPr/>
        </p:nvSpPr>
        <p:spPr>
          <a:xfrm>
            <a:off x="9005010" y="1764792"/>
            <a:ext cx="2189073" cy="594360"/>
          </a:xfrm>
          <a:prstGeom prst="rect">
            <a:avLst/>
          </a:prstGeom>
          <a:noFill/>
        </p:spPr>
        <p:txBody>
          <a:bodyPr wrap="square" anchor="t" lIns="0" tIns="0" rIns="0" bIns="0">
            <a:spAutoFit/>
          </a:bodyPr>
          <a:lstStyle/>
          <a:p>
            <a:pPr algn="l">
              <a:defRPr sz="2000" b="1">
                <a:solidFill>
                  <a:srgbClr val="023047"/>
                </a:solidFill>
                <a:latin typeface="Calibri"/>
              </a:defRPr>
            </a:pPr>
            <a:r>
              <a:t>Municipal Command Center</a:t>
            </a:r>
          </a:p>
        </p:txBody>
      </p:sp>
      <p:sp>
        <p:nvSpPr>
          <p:cNvPr id="14" name="TextBox 13"/>
          <p:cNvSpPr txBox="1"/>
          <p:nvPr/>
        </p:nvSpPr>
        <p:spPr>
          <a:xfrm>
            <a:off x="8447226" y="2377440"/>
            <a:ext cx="2691993" cy="3429000"/>
          </a:xfrm>
          <a:prstGeom prst="rect">
            <a:avLst/>
          </a:prstGeom>
          <a:noFill/>
        </p:spPr>
        <p:txBody>
          <a:bodyPr wrap="square" anchor="t" lIns="0" tIns="0" rIns="0" bIns="0">
            <a:spAutoFit/>
          </a:bodyPr>
          <a:lstStyle/>
          <a:p>
            <a:pPr algn="l">
              <a:spcBef>
                <a:spcPts val="0"/>
              </a:spcBef>
              <a:spcAft>
                <a:spcPts val="1000"/>
              </a:spcAft>
              <a:defRPr sz="1500">
                <a:solidFill>
                  <a:srgbClr val="023047"/>
                </a:solidFill>
                <a:latin typeface="Calibri"/>
              </a:defRPr>
            </a:pPr>
            <a:r>
              <a:t>-  Geospatial 3D twin with Bavarian LOD2 data</a:t>
            </a:r>
          </a:p>
          <a:p>
            <a:pPr algn="l">
              <a:spcBef>
                <a:spcPts val="0"/>
              </a:spcBef>
              <a:spcAft>
                <a:spcPts val="1000"/>
              </a:spcAft>
              <a:defRPr sz="1500">
                <a:solidFill>
                  <a:srgbClr val="023047"/>
                </a:solidFill>
                <a:latin typeface="Calibri"/>
              </a:defRPr>
            </a:pPr>
            <a:r>
              <a:t>-  Real-time pollution heatmaps &amp; outfall health</a:t>
            </a:r>
          </a:p>
          <a:p>
            <a:pPr algn="l">
              <a:spcBef>
                <a:spcPts val="0"/>
              </a:spcBef>
              <a:spcAft>
                <a:spcPts val="1000"/>
              </a:spcAft>
              <a:defRPr sz="1500">
                <a:solidFill>
                  <a:srgbClr val="023047"/>
                </a:solidFill>
                <a:latin typeface="Calibri"/>
              </a:defRPr>
            </a:pPr>
            <a:r>
              <a:t>-  Pinpoints exact sewer outfalls causing violations</a:t>
            </a:r>
          </a:p>
          <a:p>
            <a:pPr algn="l">
              <a:spcBef>
                <a:spcPts val="0"/>
              </a:spcBef>
              <a:spcAft>
                <a:spcPts val="1000"/>
              </a:spcAft>
              <a:defRPr sz="1500">
                <a:solidFill>
                  <a:srgbClr val="023047"/>
                </a:solidFill>
                <a:latin typeface="Calibri"/>
              </a:defRPr>
            </a:pPr>
            <a:r>
              <a:t>-  Automated statutory alerts (&lt;60s) to WWA &amp; SUN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anchor="t" lIns="0" tIns="0" rIns="0" bIns="0">
            <a:spAutoFit/>
          </a:bodyPr>
          <a:lstStyle/>
          <a:p>
            <a:pPr algn="l">
              <a:defRPr sz="3800" b="1">
                <a:solidFill>
                  <a:srgbClr val="023047"/>
                </a:solidFill>
                <a:latin typeface="Calibri"/>
              </a:defRPr>
            </a:pPr>
            <a:r>
              <a:t>Autonomous Closed-Loop Guidance</a:t>
            </a:r>
          </a:p>
        </p:txBody>
      </p:sp>
      <p:sp>
        <p:nvSpPr>
          <p:cNvPr id="3" name="Rounded Rectangle 2"/>
          <p:cNvSpPr/>
          <p:nvPr/>
        </p:nvSpPr>
        <p:spPr>
          <a:xfrm>
            <a:off x="731520" y="1508760"/>
            <a:ext cx="5180990"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daptive_retask.png"/>
          <p:cNvPicPr>
            <a:picLocks noChangeAspect="1"/>
          </p:cNvPicPr>
          <p:nvPr/>
        </p:nvPicPr>
        <p:blipFill>
          <a:blip r:embed="rId2"/>
          <a:stretch>
            <a:fillRect/>
          </a:stretch>
        </p:blipFill>
        <p:spPr>
          <a:xfrm>
            <a:off x="1024128" y="1801368"/>
            <a:ext cx="475488" cy="475488"/>
          </a:xfrm>
          <a:prstGeom prst="rect">
            <a:avLst/>
          </a:prstGeom>
        </p:spPr>
      </p:pic>
      <p:sp>
        <p:nvSpPr>
          <p:cNvPr id="5" name="TextBox 4"/>
          <p:cNvSpPr txBox="1"/>
          <p:nvPr/>
        </p:nvSpPr>
        <p:spPr>
          <a:xfrm>
            <a:off x="1609344" y="1764792"/>
            <a:ext cx="4037990" cy="594360"/>
          </a:xfrm>
          <a:prstGeom prst="rect">
            <a:avLst/>
          </a:prstGeom>
          <a:noFill/>
        </p:spPr>
        <p:txBody>
          <a:bodyPr wrap="square" anchor="t" lIns="0" tIns="0" rIns="0" bIns="0">
            <a:spAutoFit/>
          </a:bodyPr>
          <a:lstStyle/>
          <a:p>
            <a:pPr algn="l">
              <a:defRPr sz="2200" b="1">
                <a:solidFill>
                  <a:srgbClr val="023047"/>
                </a:solidFill>
                <a:latin typeface="Calibri"/>
              </a:defRPr>
            </a:pPr>
            <a:r>
              <a:t>4D Adaptive Retasking</a:t>
            </a:r>
          </a:p>
        </p:txBody>
      </p:sp>
      <p:sp>
        <p:nvSpPr>
          <p:cNvPr id="6" name="TextBox 5"/>
          <p:cNvSpPr txBox="1"/>
          <p:nvPr/>
        </p:nvSpPr>
        <p:spPr>
          <a:xfrm>
            <a:off x="1051560" y="2377440"/>
            <a:ext cx="4540910" cy="342900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Dynamically recomputes waypoints in real time</a:t>
            </a:r>
          </a:p>
          <a:p>
            <a:pPr algn="l">
              <a:spcBef>
                <a:spcPts val="0"/>
              </a:spcBef>
              <a:spcAft>
                <a:spcPts val="1000"/>
              </a:spcAft>
              <a:defRPr sz="1600">
                <a:solidFill>
                  <a:srgbClr val="023047"/>
                </a:solidFill>
                <a:latin typeface="Calibri"/>
              </a:defRPr>
            </a:pPr>
            <a:r>
              <a:t>-  Chemical Gradient: homes upstream to leaking pipe</a:t>
            </a:r>
          </a:p>
          <a:p>
            <a:pPr algn="l">
              <a:spcBef>
                <a:spcPts val="0"/>
              </a:spcBef>
              <a:spcAft>
                <a:spcPts val="1000"/>
              </a:spcAft>
              <a:defRPr sz="1600">
                <a:solidFill>
                  <a:srgbClr val="023047"/>
                </a:solidFill>
                <a:latin typeface="Calibri"/>
              </a:defRPr>
            </a:pPr>
            <a:r>
              <a:t>-  Storm Rain Radar: pre-positions vessel before runoff</a:t>
            </a:r>
          </a:p>
          <a:p>
            <a:pPr algn="l">
              <a:spcBef>
                <a:spcPts val="0"/>
              </a:spcBef>
              <a:spcAft>
                <a:spcPts val="1000"/>
              </a:spcAft>
              <a:defRPr sz="1600">
                <a:solidFill>
                  <a:srgbClr val="023047"/>
                </a:solidFill>
                <a:latin typeface="Calibri"/>
              </a:defRPr>
            </a:pPr>
            <a:r>
              <a:t>-  Data Freshness: prioritizes unvisited river reaches</a:t>
            </a:r>
          </a:p>
          <a:p>
            <a:pPr algn="l">
              <a:spcBef>
                <a:spcPts val="0"/>
              </a:spcBef>
              <a:spcAft>
                <a:spcPts val="1000"/>
              </a:spcAft>
              <a:defRPr sz="1600">
                <a:solidFill>
                  <a:srgbClr val="023047"/>
                </a:solidFill>
                <a:latin typeface="Calibri"/>
              </a:defRPr>
            </a:pPr>
            <a:r>
              <a:t>-  Dynamic goal updates dispatched in under 35 seconds</a:t>
            </a:r>
          </a:p>
        </p:txBody>
      </p:sp>
      <p:sp>
        <p:nvSpPr>
          <p:cNvPr id="7" name="Rounded Rectangle 6"/>
          <p:cNvSpPr/>
          <p:nvPr/>
        </p:nvSpPr>
        <p:spPr>
          <a:xfrm>
            <a:off x="6278270" y="1508760"/>
            <a:ext cx="5180990"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afety_resilience.png"/>
          <p:cNvPicPr>
            <a:picLocks noChangeAspect="1"/>
          </p:cNvPicPr>
          <p:nvPr/>
        </p:nvPicPr>
        <p:blipFill>
          <a:blip r:embed="rId3"/>
          <a:stretch>
            <a:fillRect/>
          </a:stretch>
        </p:blipFill>
        <p:spPr>
          <a:xfrm>
            <a:off x="6570878" y="1801368"/>
            <a:ext cx="475488" cy="475488"/>
          </a:xfrm>
          <a:prstGeom prst="rect">
            <a:avLst/>
          </a:prstGeom>
        </p:spPr>
      </p:pic>
      <p:sp>
        <p:nvSpPr>
          <p:cNvPr id="9" name="TextBox 8"/>
          <p:cNvSpPr txBox="1"/>
          <p:nvPr/>
        </p:nvSpPr>
        <p:spPr>
          <a:xfrm>
            <a:off x="7156094" y="1764792"/>
            <a:ext cx="4037990" cy="594360"/>
          </a:xfrm>
          <a:prstGeom prst="rect">
            <a:avLst/>
          </a:prstGeom>
          <a:noFill/>
        </p:spPr>
        <p:txBody>
          <a:bodyPr wrap="square" anchor="t" lIns="0" tIns="0" rIns="0" bIns="0">
            <a:spAutoFit/>
          </a:bodyPr>
          <a:lstStyle/>
          <a:p>
            <a:pPr algn="l">
              <a:defRPr sz="2200" b="1">
                <a:solidFill>
                  <a:srgbClr val="023047"/>
                </a:solidFill>
                <a:latin typeface="Calibri"/>
              </a:defRPr>
            </a:pPr>
            <a:r>
              <a:t>Why Digital Twinning?</a:t>
            </a:r>
          </a:p>
        </p:txBody>
      </p:sp>
      <p:sp>
        <p:nvSpPr>
          <p:cNvPr id="10" name="TextBox 9"/>
          <p:cNvSpPr txBox="1"/>
          <p:nvPr/>
        </p:nvSpPr>
        <p:spPr>
          <a:xfrm>
            <a:off x="6598310" y="2377440"/>
            <a:ext cx="4540910" cy="342900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Active Gradient Tracing overcomes point dilution</a:t>
            </a:r>
          </a:p>
          <a:p>
            <a:pPr algn="l">
              <a:spcBef>
                <a:spcPts val="0"/>
              </a:spcBef>
              <a:spcAft>
                <a:spcPts val="1000"/>
              </a:spcAft>
              <a:defRPr sz="1600">
                <a:solidFill>
                  <a:srgbClr val="023047"/>
                </a:solidFill>
                <a:latin typeface="Calibri"/>
              </a:defRPr>
            </a:pPr>
            <a:r>
              <a:t>-  Predictive storm anticipation replaces reactive lab lag</a:t>
            </a:r>
          </a:p>
          <a:p>
            <a:pPr algn="l">
              <a:spcBef>
                <a:spcPts val="0"/>
              </a:spcBef>
              <a:spcAft>
                <a:spcPts val="1000"/>
              </a:spcAft>
              <a:defRPr sz="1600">
                <a:solidFill>
                  <a:srgbClr val="023047"/>
                </a:solidFill>
                <a:latin typeface="Calibri"/>
              </a:defRPr>
            </a:pPr>
            <a:r>
              <a:t>-  One mobile vessel replaces 50+ biofouled static probes</a:t>
            </a:r>
          </a:p>
          <a:p>
            <a:pPr algn="l">
              <a:spcBef>
                <a:spcPts val="0"/>
              </a:spcBef>
              <a:spcAft>
                <a:spcPts val="1000"/>
              </a:spcAft>
              <a:defRPr sz="1600">
                <a:solidFill>
                  <a:srgbClr val="023047"/>
                </a:solidFill>
                <a:latin typeface="Calibri"/>
              </a:defRPr>
            </a:pPr>
            <a:r>
              <a:t>-  Continuous feedback synchronizes twin with physical state</a:t>
            </a:r>
          </a:p>
          <a:p>
            <a:pPr algn="l">
              <a:spcBef>
                <a:spcPts val="0"/>
              </a:spcBef>
              <a:spcAft>
                <a:spcPts val="1000"/>
              </a:spcAft>
              <a:defRPr sz="1600">
                <a:solidFill>
                  <a:srgbClr val="023047"/>
                </a:solidFill>
                <a:latin typeface="Calibri"/>
              </a:defRPr>
            </a:pPr>
            <a:r>
              <a:t>-  Empirical evidence justifies targeted retention investments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502920"/>
            <a:ext cx="10728655" cy="777240"/>
          </a:xfrm>
          <a:prstGeom prst="rect">
            <a:avLst/>
          </a:prstGeom>
          <a:noFill/>
        </p:spPr>
        <p:txBody>
          <a:bodyPr wrap="square" anchor="t" lIns="0" tIns="0" rIns="0" bIns="0">
            <a:spAutoFit/>
          </a:bodyPr>
          <a:lstStyle/>
          <a:p>
            <a:pPr algn="l">
              <a:defRPr sz="3800" b="1">
                <a:solidFill>
                  <a:srgbClr val="023047"/>
                </a:solidFill>
                <a:latin typeface="Calibri"/>
              </a:defRPr>
            </a:pPr>
            <a:r>
              <a:t>Stakeholder Action &amp; AI Public Access</a:t>
            </a:r>
          </a:p>
        </p:txBody>
      </p:sp>
      <p:sp>
        <p:nvSpPr>
          <p:cNvPr id="3" name="Rounded Rectangle 2"/>
          <p:cNvSpPr/>
          <p:nvPr/>
        </p:nvSpPr>
        <p:spPr>
          <a:xfrm>
            <a:off x="731520" y="1508760"/>
            <a:ext cx="5180990"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uthority.png"/>
          <p:cNvPicPr>
            <a:picLocks noChangeAspect="1"/>
          </p:cNvPicPr>
          <p:nvPr/>
        </p:nvPicPr>
        <p:blipFill>
          <a:blip r:embed="rId2"/>
          <a:stretch>
            <a:fillRect/>
          </a:stretch>
        </p:blipFill>
        <p:spPr>
          <a:xfrm>
            <a:off x="1024128" y="1801368"/>
            <a:ext cx="475488" cy="475488"/>
          </a:xfrm>
          <a:prstGeom prst="rect">
            <a:avLst/>
          </a:prstGeom>
        </p:spPr>
      </p:pic>
      <p:sp>
        <p:nvSpPr>
          <p:cNvPr id="5" name="TextBox 4"/>
          <p:cNvSpPr txBox="1"/>
          <p:nvPr/>
        </p:nvSpPr>
        <p:spPr>
          <a:xfrm>
            <a:off x="1609344" y="1764792"/>
            <a:ext cx="4037990" cy="594360"/>
          </a:xfrm>
          <a:prstGeom prst="rect">
            <a:avLst/>
          </a:prstGeom>
          <a:noFill/>
        </p:spPr>
        <p:txBody>
          <a:bodyPr wrap="square" anchor="t" lIns="0" tIns="0" rIns="0" bIns="0">
            <a:spAutoFit/>
          </a:bodyPr>
          <a:lstStyle/>
          <a:p>
            <a:pPr algn="l">
              <a:defRPr sz="2200" b="1">
                <a:solidFill>
                  <a:srgbClr val="023047"/>
                </a:solidFill>
                <a:latin typeface="Calibri"/>
              </a:defRPr>
            </a:pPr>
            <a:r>
              <a:t>City &amp; Authority Command</a:t>
            </a:r>
          </a:p>
        </p:txBody>
      </p:sp>
      <p:sp>
        <p:nvSpPr>
          <p:cNvPr id="6" name="TextBox 5"/>
          <p:cNvSpPr txBox="1"/>
          <p:nvPr/>
        </p:nvSpPr>
        <p:spPr>
          <a:xfrm>
            <a:off x="1051560" y="2377440"/>
            <a:ext cx="4540910" cy="342900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Outfall Asset Health: links chemical spikes to specific pipe IDs</a:t>
            </a:r>
          </a:p>
          <a:p>
            <a:pPr algn="l">
              <a:spcBef>
                <a:spcPts val="0"/>
              </a:spcBef>
              <a:spcAft>
                <a:spcPts val="1000"/>
              </a:spcAft>
              <a:defRPr sz="1600">
                <a:solidFill>
                  <a:srgbClr val="023047"/>
                </a:solidFill>
                <a:latin typeface="Calibri"/>
              </a:defRPr>
            </a:pPr>
            <a:r>
              <a:t>-  Targeted CapEx: empirical proof for 1.5M - 5M+ EUR basin upgrades</a:t>
            </a:r>
          </a:p>
          <a:p>
            <a:pPr algn="l">
              <a:spcBef>
                <a:spcPts val="0"/>
              </a:spcBef>
              <a:spcAft>
                <a:spcPts val="1000"/>
              </a:spcAft>
              <a:defRPr sz="1600">
                <a:solidFill>
                  <a:srgbClr val="023047"/>
                </a:solidFill>
                <a:latin typeface="Calibri"/>
              </a:defRPr>
            </a:pPr>
            <a:r>
              <a:t>-  Chronic Seepage: uncovers leaking pipes before structural collapse</a:t>
            </a:r>
          </a:p>
          <a:p>
            <a:pPr algn="l">
              <a:spcBef>
                <a:spcPts val="0"/>
              </a:spcBef>
              <a:spcAft>
                <a:spcPts val="1000"/>
              </a:spcAft>
              <a:defRPr sz="1600">
                <a:solidFill>
                  <a:srgbClr val="023047"/>
                </a:solidFill>
                <a:latin typeface="Calibri"/>
              </a:defRPr>
            </a:pPr>
            <a:r>
              <a:t>-  Automated compliance logs for EU Water Framework Directive &amp; OGewV</a:t>
            </a:r>
          </a:p>
        </p:txBody>
      </p:sp>
      <p:sp>
        <p:nvSpPr>
          <p:cNvPr id="7" name="Rounded Rectangle 6"/>
          <p:cNvSpPr/>
          <p:nvPr/>
        </p:nvSpPr>
        <p:spPr>
          <a:xfrm>
            <a:off x="6278270" y="1508760"/>
            <a:ext cx="5180990" cy="4389120"/>
          </a:xfrm>
          <a:prstGeom prst="roundRect">
            <a:avLst>
              <a:gd name="adj" fmla="val 3500"/>
            </a:avLst>
          </a:prstGeom>
          <a:solidFill>
            <a:srgbClr val="F4F9FC"/>
          </a:solidFill>
          <a:ln w="19050">
            <a:solidFill>
              <a:srgbClr val="B4DA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_mcp.png"/>
          <p:cNvPicPr>
            <a:picLocks noChangeAspect="1"/>
          </p:cNvPicPr>
          <p:nvPr/>
        </p:nvPicPr>
        <p:blipFill>
          <a:blip r:embed="rId3"/>
          <a:stretch>
            <a:fillRect/>
          </a:stretch>
        </p:blipFill>
        <p:spPr>
          <a:xfrm>
            <a:off x="6570878" y="1801368"/>
            <a:ext cx="475488" cy="475488"/>
          </a:xfrm>
          <a:prstGeom prst="rect">
            <a:avLst/>
          </a:prstGeom>
        </p:spPr>
      </p:pic>
      <p:sp>
        <p:nvSpPr>
          <p:cNvPr id="9" name="TextBox 8"/>
          <p:cNvSpPr txBox="1"/>
          <p:nvPr/>
        </p:nvSpPr>
        <p:spPr>
          <a:xfrm>
            <a:off x="7156094" y="1764792"/>
            <a:ext cx="4037990" cy="594360"/>
          </a:xfrm>
          <a:prstGeom prst="rect">
            <a:avLst/>
          </a:prstGeom>
          <a:noFill/>
        </p:spPr>
        <p:txBody>
          <a:bodyPr wrap="square" anchor="t" lIns="0" tIns="0" rIns="0" bIns="0">
            <a:spAutoFit/>
          </a:bodyPr>
          <a:lstStyle/>
          <a:p>
            <a:pPr algn="l">
              <a:defRPr sz="2200" b="1">
                <a:solidFill>
                  <a:srgbClr val="023047"/>
                </a:solidFill>
                <a:latin typeface="Calibri"/>
              </a:defRPr>
            </a:pPr>
            <a:r>
              <a:t>AI Public Access via MCP</a:t>
            </a:r>
          </a:p>
        </p:txBody>
      </p:sp>
      <p:sp>
        <p:nvSpPr>
          <p:cNvPr id="10" name="TextBox 9"/>
          <p:cNvSpPr txBox="1"/>
          <p:nvPr/>
        </p:nvSpPr>
        <p:spPr>
          <a:xfrm>
            <a:off x="6598310" y="2377440"/>
            <a:ext cx="4540910" cy="3429000"/>
          </a:xfrm>
          <a:prstGeom prst="rect">
            <a:avLst/>
          </a:prstGeom>
          <a:noFill/>
        </p:spPr>
        <p:txBody>
          <a:bodyPr wrap="square" anchor="t" lIns="0" tIns="0" rIns="0" bIns="0">
            <a:spAutoFit/>
          </a:bodyPr>
          <a:lstStyle/>
          <a:p>
            <a:pPr algn="l">
              <a:spcBef>
                <a:spcPts val="0"/>
              </a:spcBef>
              <a:spcAft>
                <a:spcPts val="1000"/>
              </a:spcAft>
              <a:defRPr sz="1600">
                <a:solidFill>
                  <a:srgbClr val="023047"/>
                </a:solidFill>
                <a:latin typeface="Calibri"/>
              </a:defRPr>
            </a:pPr>
            <a:r>
              <a:t>-  Model Context Protocol (MCP) connects AI models to live twin data</a:t>
            </a:r>
          </a:p>
          <a:p>
            <a:pPr algn="l">
              <a:spcBef>
                <a:spcPts val="0"/>
              </a:spcBef>
              <a:spcAft>
                <a:spcPts val="1000"/>
              </a:spcAft>
              <a:defRPr sz="1600">
                <a:solidFill>
                  <a:srgbClr val="023047"/>
                </a:solidFill>
                <a:latin typeface="Calibri"/>
              </a:defRPr>
            </a:pPr>
            <a:r>
              <a:t>-  Conversational Queries: 'Can I surf at Fuchslochwelle today?'</a:t>
            </a:r>
          </a:p>
          <a:p>
            <a:pPr algn="l">
              <a:spcBef>
                <a:spcPts val="0"/>
              </a:spcBef>
              <a:spcAft>
                <a:spcPts val="1000"/>
              </a:spcAft>
              <a:defRPr sz="1600">
                <a:solidFill>
                  <a:srgbClr val="023047"/>
                </a:solidFill>
                <a:latin typeface="Calibri"/>
              </a:defRPr>
            </a:pPr>
            <a:r>
              <a:t>-  Live Citizen Traffic Light: instant Green / Yellow / Red alerts</a:t>
            </a:r>
          </a:p>
          <a:p>
            <a:pPr algn="l">
              <a:spcBef>
                <a:spcPts val="0"/>
              </a:spcBef>
              <a:spcAft>
                <a:spcPts val="1000"/>
              </a:spcAft>
              <a:defRPr sz="1600">
                <a:solidFill>
                  <a:srgbClr val="023047"/>
                </a:solidFill>
                <a:latin typeface="Calibri"/>
              </a:defRPr>
            </a:pPr>
            <a:r>
              <a:t>-  Eliminates 48h lab delay with direct public health warnings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