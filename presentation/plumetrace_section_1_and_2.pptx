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members of the jury and mentors. Today, we present PlumeTrace - an autonomous, closed-loop Digital Twin system designed to protect urban rivers.</a:t>
            </a:r>
          </a:p>
          <a:p/>
          <a:p>
            <a:r>
              <a:t>Across Europe, urban rivers are essential for recreation, drinking water, and ecology. Yet beneath the surface, they face sudden, unmonitored pollution events that traditional testing completely misses.</a:t>
            </a:r>
          </a:p>
          <a:p/>
          <a:p>
            <a:r>
              <a:t>Using the Pegnitz River in Nuremberg as our testbed, we demonstrate how coupling an autonomous robotic agent with a real-time predictive Digital Twin transforms water quality monitoring from blind, infrequent sampling into actionable protection.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Pegnitz River? Because it represents four urgent pressures colliding in one urban corridor:</a:t>
            </a:r>
          </a:p>
          <a:p/>
          <a:p>
            <a:r>
              <a:t>First, Public Health: Surfers at the Fuchslochwelle wave and waders face raw sewage contamination after storms, creating immediate health risks.</a:t>
            </a:r>
          </a:p>
          <a:p>
            <a:r>
              <a:t>Second, Urban Infrastructure: Nuremberg's 1,500 km sewer network overspills during heavy rains. Modernizing a single retention basin costs between 1.5 and 5 million euros - cities cannot afford to invest blindly.</a:t>
            </a:r>
          </a:p>
          <a:p>
            <a:r>
              <a:t>Third, Agriculture: Intensive vegetable farming in Knoblauchsland leaches nitrates into alluvial drinking water aquifers under strict EU penalties.</a:t>
            </a:r>
          </a:p>
          <a:p>
            <a:r>
              <a:t>And fourth, Climate Drought: Summer heat reduces river discharge, collapsing oxygen levels below 3 mg/L and killing fish.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address this, we looked at what municipal authorities currently measure.</a:t>
            </a:r>
          </a:p>
          <a:p/>
          <a:p>
            <a:r>
              <a:t>In Nuremberg, the drainage service SUN tracks eight standard parameters: temperature, pH, conductivity, turbidity, dissolved oxygen, and nutrients like ammonium, nitrate, and phosphate. Ammonium is the critical chemical fingerprint of raw sewage.</a:t>
            </a:r>
          </a:p>
          <a:p/>
          <a:p>
            <a:r>
              <a:t>The sampling gap is two-fold: automated sensors are confined to a few fixed points, while manual sampling happens as rarely as once a month with days of lab delay. The result: acute plumes arrive, cause damage, and clear completely undetected.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monitoring failure creates acute problems for our two key stakeholder groups today:</a:t>
            </a:r>
          </a:p>
          <a:p/>
          <a:p>
            <a:r>
              <a:t>First, Water Authorities like SUN and WWA: They must invest millions of euros into retention basins, but without spatial plume tracking, they are forced to invest blindly without knowing which overflow pipes cause the greatest damage. Furthermore, laboratory delays mean they only learn of acute spills days after they have already washed away.</a:t>
            </a:r>
          </a:p>
          <a:p/>
          <a:p>
            <a:r>
              <a:t>Second, Citizens and Surfers: People entering the Pegnitz at the Fuchslochwelle or in city parks have zero real-time warning. They unknowingly expose themselves to acute bacterial contamination because municipal data is either delayed by days or buried in complex chemical reports.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jpeg"/>
          <p:cNvPicPr>
            <a:picLocks noChangeAspect="1"/>
          </p:cNvPicPr>
          <p:nvPr/>
        </p:nvPicPr>
        <p:blipFill>
          <a:blip r:embed="rId2"/>
          <a:stretch>
            <a:fillRect/>
          </a:stretch>
        </p:blipFill>
        <p:spPr>
          <a:xfrm>
            <a:off x="1097280" y="2011680"/>
            <a:ext cx="2926080" cy="2926080"/>
          </a:xfrm>
          <a:prstGeom prst="rect">
            <a:avLst/>
          </a:prstGeom>
        </p:spPr>
      </p:pic>
      <p:sp>
        <p:nvSpPr>
          <p:cNvPr id="3" name="TextBox 2"/>
          <p:cNvSpPr txBox="1"/>
          <p:nvPr/>
        </p:nvSpPr>
        <p:spPr>
          <a:xfrm>
            <a:off x="4480560" y="2103120"/>
            <a:ext cx="6858000" cy="2743200"/>
          </a:xfrm>
          <a:prstGeom prst="rect">
            <a:avLst/>
          </a:prstGeom>
          <a:noFill/>
        </p:spPr>
        <p:txBody>
          <a:bodyPr wrap="square" lIns="0" tIns="0" rIns="0" bIns="0">
            <a:spAutoFit/>
          </a:bodyPr>
          <a:lstStyle/>
          <a:p>
            <a:pPr>
              <a:spcAft>
                <a:spcPts val="1400"/>
              </a:spcAft>
              <a:defRPr sz="6000" b="1">
                <a:solidFill>
                  <a:srgbClr val="219EBC"/>
                </a:solidFill>
                <a:latin typeface="Calibri"/>
              </a:defRPr>
            </a:pPr>
            <a:r>
              <a:t>PlumeTrace</a:t>
            </a:r>
          </a:p>
          <a:p>
            <a:pPr>
              <a:defRPr sz="2600" b="1">
                <a:solidFill>
                  <a:srgbClr val="023047"/>
                </a:solidFill>
                <a:latin typeface="Calibri"/>
              </a:defRPr>
            </a:pPr>
            <a:r>
              <a:t>Autonomous Water Protection for the Pegnitz River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698480" cy="822960"/>
          </a:xfrm>
          <a:prstGeom prst="rect">
            <a:avLst/>
          </a:prstGeom>
          <a:noFill/>
        </p:spPr>
        <p:txBody>
          <a:bodyPr wrap="square" lIns="0" tIns="0" rIns="0" bIns="0">
            <a:spAutoFit/>
          </a:bodyPr>
          <a:lstStyle/>
          <a:p>
            <a:pPr>
              <a:defRPr sz="3800" b="1">
                <a:solidFill>
                  <a:srgbClr val="023047"/>
                </a:solidFill>
                <a:latin typeface="Calibri"/>
              </a:defRPr>
            </a:pPr>
            <a:r>
              <a:t>Why Pegnitz</a:t>
            </a:r>
          </a:p>
        </p:txBody>
      </p:sp>
      <p:sp>
        <p:nvSpPr>
          <p:cNvPr id="3" name="Rounded Rectangle 2"/>
          <p:cNvSpPr/>
          <p:nvPr/>
        </p:nvSpPr>
        <p:spPr>
          <a:xfrm>
            <a:off x="731520" y="1645920"/>
            <a:ext cx="5212080" cy="2011680"/>
          </a:xfrm>
          <a:prstGeom prst="roundRect">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bIns="182880"/>
          <a:lstStyle/>
          <a:p>
            <a:pPr algn="ctr">
              <a:spcAft>
                <a:spcPts val="1000"/>
              </a:spcAft>
              <a:defRPr sz="2200" b="1">
                <a:solidFill>
                  <a:srgbClr val="023047"/>
                </a:solidFill>
                <a:latin typeface="Calibri"/>
              </a:defRPr>
            </a:pPr>
            <a:r>
              <a:t>Public Health</a:t>
            </a:r>
          </a:p>
          <a:p>
            <a:pPr>
              <a:spcAft>
                <a:spcPts val="400"/>
              </a:spcAft>
              <a:defRPr sz="1600">
                <a:solidFill>
                  <a:srgbClr val="023047"/>
                </a:solidFill>
                <a:latin typeface="Calibri"/>
              </a:defRPr>
            </a:pPr>
            <a:r>
              <a:t>-  Raw sewage spikes after rainfall</a:t>
            </a:r>
          </a:p>
          <a:p>
            <a:pPr>
              <a:spcAft>
                <a:spcPts val="400"/>
              </a:spcAft>
              <a:defRPr sz="1600">
                <a:solidFill>
                  <a:srgbClr val="023047"/>
                </a:solidFill>
                <a:latin typeface="Calibri"/>
              </a:defRPr>
            </a:pPr>
            <a:r>
              <a:t>-  Instant health risk for surfers, waders, and park visitors</a:t>
            </a:r>
          </a:p>
        </p:txBody>
      </p:sp>
      <p:sp>
        <p:nvSpPr>
          <p:cNvPr id="4" name="Rounded Rectangle 3"/>
          <p:cNvSpPr/>
          <p:nvPr/>
        </p:nvSpPr>
        <p:spPr>
          <a:xfrm>
            <a:off x="6217920" y="1645920"/>
            <a:ext cx="5212080" cy="2011680"/>
          </a:xfrm>
          <a:prstGeom prst="roundRect">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bIns="182880"/>
          <a:lstStyle/>
          <a:p>
            <a:pPr algn="ctr">
              <a:spcAft>
                <a:spcPts val="1000"/>
              </a:spcAft>
              <a:defRPr sz="2200" b="1">
                <a:solidFill>
                  <a:srgbClr val="023047"/>
                </a:solidFill>
                <a:latin typeface="Calibri"/>
              </a:defRPr>
            </a:pPr>
            <a:r>
              <a:t>Sewer Overflows (CSOs)</a:t>
            </a:r>
          </a:p>
          <a:p>
            <a:pPr>
              <a:spcAft>
                <a:spcPts val="400"/>
              </a:spcAft>
              <a:defRPr sz="1600">
                <a:solidFill>
                  <a:srgbClr val="023047"/>
                </a:solidFill>
                <a:latin typeface="Calibri"/>
              </a:defRPr>
            </a:pPr>
            <a:r>
              <a:t>-  1,500 km municipal network overloaded by storms</a:t>
            </a:r>
          </a:p>
          <a:p>
            <a:pPr>
              <a:spcAft>
                <a:spcPts val="400"/>
              </a:spcAft>
              <a:defRPr sz="1600">
                <a:solidFill>
                  <a:srgbClr val="023047"/>
                </a:solidFill>
                <a:latin typeface="Calibri"/>
              </a:defRPr>
            </a:pPr>
            <a:r>
              <a:t>-  1.5M - 5M+ EUR cost per retention basin</a:t>
            </a:r>
          </a:p>
        </p:txBody>
      </p:sp>
      <p:sp>
        <p:nvSpPr>
          <p:cNvPr id="5" name="Rounded Rectangle 4"/>
          <p:cNvSpPr/>
          <p:nvPr/>
        </p:nvSpPr>
        <p:spPr>
          <a:xfrm>
            <a:off x="731520" y="4023360"/>
            <a:ext cx="5212080" cy="2011680"/>
          </a:xfrm>
          <a:prstGeom prst="roundRect">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bIns="182880"/>
          <a:lstStyle/>
          <a:p>
            <a:pPr algn="ctr">
              <a:spcAft>
                <a:spcPts val="1000"/>
              </a:spcAft>
              <a:defRPr sz="2200" b="1">
                <a:solidFill>
                  <a:srgbClr val="023047"/>
                </a:solidFill>
                <a:latin typeface="Calibri"/>
              </a:defRPr>
            </a:pPr>
            <a:r>
              <a:t>Knoblauchsland Agriculture</a:t>
            </a:r>
          </a:p>
          <a:p>
            <a:pPr>
              <a:spcAft>
                <a:spcPts val="400"/>
              </a:spcAft>
              <a:defRPr sz="1600">
                <a:solidFill>
                  <a:srgbClr val="023047"/>
                </a:solidFill>
                <a:latin typeface="Calibri"/>
              </a:defRPr>
            </a:pPr>
            <a:r>
              <a:t>-  Nitrate leaching into drinking water aquifers</a:t>
            </a:r>
          </a:p>
          <a:p>
            <a:pPr>
              <a:spcAft>
                <a:spcPts val="400"/>
              </a:spcAft>
              <a:defRPr sz="1600">
                <a:solidFill>
                  <a:srgbClr val="023047"/>
                </a:solidFill>
                <a:latin typeface="Calibri"/>
              </a:defRPr>
            </a:pPr>
            <a:r>
              <a:t>-  Strict EU limits and compliance pressure</a:t>
            </a:r>
          </a:p>
        </p:txBody>
      </p:sp>
      <p:sp>
        <p:nvSpPr>
          <p:cNvPr id="6" name="Rounded Rectangle 5"/>
          <p:cNvSpPr/>
          <p:nvPr/>
        </p:nvSpPr>
        <p:spPr>
          <a:xfrm>
            <a:off x="6217920" y="4023360"/>
            <a:ext cx="5212080" cy="2011680"/>
          </a:xfrm>
          <a:prstGeom prst="roundRect">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bIns="182880"/>
          <a:lstStyle/>
          <a:p>
            <a:pPr algn="ctr">
              <a:spcAft>
                <a:spcPts val="1000"/>
              </a:spcAft>
              <a:defRPr sz="2200" b="1">
                <a:solidFill>
                  <a:srgbClr val="023047"/>
                </a:solidFill>
                <a:latin typeface="Calibri"/>
              </a:defRPr>
            </a:pPr>
            <a:r>
              <a:t>Summer Heat and Drought</a:t>
            </a:r>
          </a:p>
          <a:p>
            <a:pPr>
              <a:spcAft>
                <a:spcPts val="400"/>
              </a:spcAft>
              <a:defRPr sz="1600">
                <a:solidFill>
                  <a:srgbClr val="023047"/>
                </a:solidFill>
                <a:latin typeface="Calibri"/>
              </a:defRPr>
            </a:pPr>
            <a:r>
              <a:t>-  Low flow concentrates pollutants</a:t>
            </a:r>
          </a:p>
          <a:p>
            <a:pPr>
              <a:spcAft>
                <a:spcPts val="400"/>
              </a:spcAft>
              <a:defRPr sz="1600">
                <a:solidFill>
                  <a:srgbClr val="023047"/>
                </a:solidFill>
                <a:latin typeface="Calibri"/>
              </a:defRPr>
            </a:pPr>
            <a:r>
              <a:t>-  Dissolved oxygen drops &lt; 3 mg/L (fish kills)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698480" cy="822960"/>
          </a:xfrm>
          <a:prstGeom prst="rect">
            <a:avLst/>
          </a:prstGeom>
          <a:noFill/>
        </p:spPr>
        <p:txBody>
          <a:bodyPr wrap="square" lIns="0" tIns="0" rIns="0" bIns="0">
            <a:spAutoFit/>
          </a:bodyPr>
          <a:lstStyle/>
          <a:p>
            <a:pPr>
              <a:defRPr sz="3800" b="1">
                <a:solidFill>
                  <a:srgbClr val="023047"/>
                </a:solidFill>
                <a:latin typeface="Calibri"/>
              </a:defRPr>
            </a:pPr>
            <a:r>
              <a:t>Current Monitoring</a:t>
            </a:r>
          </a:p>
        </p:txBody>
      </p:sp>
      <p:sp>
        <p:nvSpPr>
          <p:cNvPr id="3" name="Rounded Rectangle 2"/>
          <p:cNvSpPr/>
          <p:nvPr/>
        </p:nvSpPr>
        <p:spPr>
          <a:xfrm>
            <a:off x="731520" y="1645920"/>
            <a:ext cx="5212080" cy="3749039"/>
          </a:xfrm>
          <a:prstGeom prst="roundRect">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spcAft>
                <a:spcPts val="400"/>
              </a:spcAft>
              <a:defRPr sz="2200" b="1">
                <a:solidFill>
                  <a:srgbClr val="023047"/>
                </a:solidFill>
                <a:latin typeface="Calibri"/>
              </a:defRPr>
            </a:pPr>
            <a:r>
              <a:t>Municipal Authorities</a:t>
            </a:r>
          </a:p>
          <a:p>
            <a:pPr>
              <a:spcAft>
                <a:spcPts val="1200"/>
              </a:spcAft>
              <a:defRPr sz="1300" b="1">
                <a:solidFill>
                  <a:srgbClr val="219EBC"/>
                </a:solidFill>
                <a:latin typeface="Calibri"/>
              </a:defRPr>
            </a:pPr>
            <a:r>
              <a:t>Stadtentwässerung Nürnberg (SUN) &amp; Wasserwirtschaftsamt (WWA)</a:t>
            </a:r>
          </a:p>
          <a:p>
            <a:pPr>
              <a:spcAft>
                <a:spcPts val="800"/>
              </a:spcAft>
              <a:defRPr sz="1600">
                <a:solidFill>
                  <a:srgbClr val="023047"/>
                </a:solidFill>
                <a:latin typeface="Calibri"/>
              </a:defRPr>
            </a:pPr>
            <a:r>
              <a:t>-  Temperature, pH, conductivity, turbidity</a:t>
            </a:r>
          </a:p>
          <a:p>
            <a:pPr>
              <a:spcAft>
                <a:spcPts val="800"/>
              </a:spcAft>
              <a:defRPr sz="1600">
                <a:solidFill>
                  <a:srgbClr val="023047"/>
                </a:solidFill>
                <a:latin typeface="Calibri"/>
              </a:defRPr>
            </a:pPr>
            <a:r>
              <a:t>-  Dissolved oxygen and nutrients (Nitrate, Phosphate)</a:t>
            </a:r>
          </a:p>
          <a:p>
            <a:pPr>
              <a:spcAft>
                <a:spcPts val="800"/>
              </a:spcAft>
              <a:defRPr sz="1600">
                <a:solidFill>
                  <a:srgbClr val="023047"/>
                </a:solidFill>
                <a:latin typeface="Calibri"/>
              </a:defRPr>
            </a:pPr>
            <a:r>
              <a:t>-  Ammonium (NH4+): primary raw sewage tracer</a:t>
            </a:r>
          </a:p>
        </p:txBody>
      </p:sp>
      <p:sp>
        <p:nvSpPr>
          <p:cNvPr id="4" name="Rounded Rectangle 3"/>
          <p:cNvSpPr/>
          <p:nvPr/>
        </p:nvSpPr>
        <p:spPr>
          <a:xfrm>
            <a:off x="6217920" y="1645920"/>
            <a:ext cx="5212080" cy="3749039"/>
          </a:xfrm>
          <a:prstGeom prst="roundRect">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a:lstStyle/>
          <a:p>
            <a:pPr algn="ctr">
              <a:spcAft>
                <a:spcPts val="1600"/>
              </a:spcAft>
              <a:defRPr sz="2200" b="1">
                <a:solidFill>
                  <a:srgbClr val="023047"/>
                </a:solidFill>
                <a:latin typeface="Calibri"/>
              </a:defRPr>
            </a:pPr>
            <a:r>
              <a:t>The Sampling Gap</a:t>
            </a:r>
          </a:p>
          <a:p>
            <a:pPr>
              <a:spcAft>
                <a:spcPts val="1200"/>
              </a:spcAft>
              <a:defRPr sz="1600">
                <a:solidFill>
                  <a:srgbClr val="023047"/>
                </a:solidFill>
                <a:latin typeface="Calibri"/>
              </a:defRPr>
            </a:pPr>
            <a:r>
              <a:t>-  Automatic sensors: continuous, but confined to few fixed locations</a:t>
            </a:r>
          </a:p>
          <a:p>
            <a:pPr>
              <a:spcAft>
                <a:spcPts val="1200"/>
              </a:spcAft>
              <a:defRPr sz="1600">
                <a:solidFill>
                  <a:srgbClr val="023047"/>
                </a:solidFill>
                <a:latin typeface="Calibri"/>
              </a:defRPr>
            </a:pPr>
            <a:r>
              <a:t>-  Manual grab sampling: often only 1x per month (24-48h lab delay)</a:t>
            </a:r>
          </a:p>
          <a:p>
            <a:pPr>
              <a:spcAft>
                <a:spcPts val="1200"/>
              </a:spcAft>
              <a:defRPr sz="1600">
                <a:solidFill>
                  <a:srgbClr val="023047"/>
                </a:solidFill>
                <a:latin typeface="Calibri"/>
              </a:defRPr>
            </a:pPr>
            <a:r>
              <a:t>-  Convective storm overflows: last only 2 to 4 hours</a:t>
            </a:r>
          </a:p>
        </p:txBody>
      </p:sp>
      <p:sp>
        <p:nvSpPr>
          <p:cNvPr id="5" name="Rounded Rectangle 4"/>
          <p:cNvSpPr/>
          <p:nvPr/>
        </p:nvSpPr>
        <p:spPr>
          <a:xfrm>
            <a:off x="731520" y="5623560"/>
            <a:ext cx="10698480" cy="731520"/>
          </a:xfrm>
          <a:prstGeom prst="roundRect">
            <a:avLst/>
          </a:prstGeom>
          <a:solidFill>
            <a:srgbClr val="F4F9FC"/>
          </a:solidFill>
          <a:ln w="19050">
            <a:solidFill>
              <a:srgbClr val="219EBC"/>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ctr">
              <a:defRPr sz="1700" b="1">
                <a:solidFill>
                  <a:srgbClr val="FB8500"/>
                </a:solidFill>
                <a:latin typeface="Calibri"/>
              </a:defRPr>
            </a:pPr>
            <a:r>
              <a:t>The Result:  </a:t>
            </a:r>
            <a:r>
              <a:rPr sz="1700" b="1">
                <a:solidFill>
                  <a:srgbClr val="023047"/>
                </a:solidFill>
                <a:latin typeface="Calibri"/>
              </a:rPr>
              <a:t>Plume arrives, causes harm, and clears undetected.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48640"/>
            <a:ext cx="10698480" cy="822960"/>
          </a:xfrm>
          <a:prstGeom prst="rect">
            <a:avLst/>
          </a:prstGeom>
          <a:noFill/>
        </p:spPr>
        <p:txBody>
          <a:bodyPr wrap="square" lIns="0" tIns="0" rIns="0" bIns="0">
            <a:spAutoFit/>
          </a:bodyPr>
          <a:lstStyle/>
          <a:p>
            <a:pPr>
              <a:defRPr sz="3800" b="1">
                <a:solidFill>
                  <a:srgbClr val="023047"/>
                </a:solidFill>
                <a:latin typeface="Calibri"/>
              </a:defRPr>
            </a:pPr>
            <a:r>
              <a:t>Key Stakeholders</a:t>
            </a:r>
          </a:p>
        </p:txBody>
      </p:sp>
      <p:sp>
        <p:nvSpPr>
          <p:cNvPr id="3" name="Rounded Rectangle 2"/>
          <p:cNvSpPr/>
          <p:nvPr/>
        </p:nvSpPr>
        <p:spPr>
          <a:xfrm>
            <a:off x="731520" y="1645920"/>
            <a:ext cx="5212080" cy="4480560"/>
          </a:xfrm>
          <a:prstGeom prst="roundRect">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a:lstStyle/>
          <a:p>
            <a:pPr algn="ctr">
              <a:spcAft>
                <a:spcPts val="1600"/>
              </a:spcAft>
              <a:defRPr sz="2200" b="1">
                <a:solidFill>
                  <a:srgbClr val="023047"/>
                </a:solidFill>
                <a:latin typeface="Calibri"/>
              </a:defRPr>
            </a:pPr>
            <a:r>
              <a:t>Water Authorities (WWA, SUN)</a:t>
            </a:r>
          </a:p>
          <a:p>
            <a:pPr>
              <a:spcAft>
                <a:spcPts val="1200"/>
              </a:spcAft>
              <a:defRPr sz="1600">
                <a:solidFill>
                  <a:srgbClr val="023047"/>
                </a:solidFill>
                <a:latin typeface="Calibri"/>
              </a:defRPr>
            </a:pPr>
            <a:r>
              <a:t>-  Cannot locate pollution origin (fixed stations lack spatial tracking)</a:t>
            </a:r>
          </a:p>
          <a:p>
            <a:pPr>
              <a:spcAft>
                <a:spcPts val="1200"/>
              </a:spcAft>
              <a:defRPr sz="1600">
                <a:solidFill>
                  <a:srgbClr val="023047"/>
                </a:solidFill>
                <a:latin typeface="Calibri"/>
              </a:defRPr>
            </a:pPr>
            <a:r>
              <a:t>-  Blind infrastructure spending (1.5M - 5M+ EUR per basin without plume data)</a:t>
            </a:r>
          </a:p>
          <a:p>
            <a:pPr>
              <a:spcAft>
                <a:spcPts val="1200"/>
              </a:spcAft>
              <a:defRPr sz="1600">
                <a:solidFill>
                  <a:srgbClr val="023047"/>
                </a:solidFill>
                <a:latin typeface="Calibri"/>
              </a:defRPr>
            </a:pPr>
            <a:r>
              <a:t>-  Chronic pipe seepage undetected until structural failure</a:t>
            </a:r>
          </a:p>
          <a:p>
            <a:pPr>
              <a:spcAft>
                <a:spcPts val="1200"/>
              </a:spcAft>
              <a:defRPr sz="1600">
                <a:solidFill>
                  <a:srgbClr val="023047"/>
                </a:solidFill>
                <a:latin typeface="Calibri"/>
              </a:defRPr>
            </a:pPr>
            <a:r>
              <a:t>-  Lab results arrive 24-48 hours too late for emergency action</a:t>
            </a:r>
          </a:p>
        </p:txBody>
      </p:sp>
      <p:sp>
        <p:nvSpPr>
          <p:cNvPr id="4" name="Rounded Rectangle 3"/>
          <p:cNvSpPr/>
          <p:nvPr/>
        </p:nvSpPr>
        <p:spPr>
          <a:xfrm>
            <a:off x="6217920" y="1645920"/>
            <a:ext cx="5212080" cy="4480560"/>
          </a:xfrm>
          <a:prstGeom prst="roundRect">
            <a:avLst/>
          </a:prstGeom>
          <a:solidFill>
            <a:srgbClr val="F4F9FC"/>
          </a:solidFill>
          <a:ln w="19050">
            <a:solidFill>
              <a:srgbClr val="8ECAE6"/>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a:lstStyle/>
          <a:p>
            <a:pPr algn="ctr">
              <a:spcAft>
                <a:spcPts val="1600"/>
              </a:spcAft>
              <a:defRPr sz="2200" b="1">
                <a:solidFill>
                  <a:srgbClr val="023047"/>
                </a:solidFill>
                <a:latin typeface="Calibri"/>
              </a:defRPr>
            </a:pPr>
            <a:r>
              <a:t>Citizens and Surfers</a:t>
            </a:r>
          </a:p>
          <a:p>
            <a:pPr>
              <a:spcAft>
                <a:spcPts val="1200"/>
              </a:spcAft>
              <a:defRPr sz="1600">
                <a:solidFill>
                  <a:srgbClr val="023047"/>
                </a:solidFill>
                <a:latin typeface="Calibri"/>
              </a:defRPr>
            </a:pPr>
            <a:r>
              <a:t>-  Zero real-time visibility into water safety</a:t>
            </a:r>
          </a:p>
          <a:p>
            <a:pPr>
              <a:spcAft>
                <a:spcPts val="1200"/>
              </a:spcAft>
              <a:defRPr sz="1600">
                <a:solidFill>
                  <a:srgbClr val="023047"/>
                </a:solidFill>
                <a:latin typeface="Calibri"/>
              </a:defRPr>
            </a:pPr>
            <a:r>
              <a:t>-  Unknowingly enter water during toxic overflow events</a:t>
            </a:r>
          </a:p>
          <a:p>
            <a:pPr>
              <a:spcAft>
                <a:spcPts val="1200"/>
              </a:spcAft>
              <a:defRPr sz="1600">
                <a:solidFill>
                  <a:srgbClr val="023047"/>
                </a:solidFill>
                <a:latin typeface="Calibri"/>
              </a:defRPr>
            </a:pPr>
            <a:r>
              <a:t>-  High risk of gastrointestinal and skin infections</a:t>
            </a:r>
          </a:p>
          <a:p>
            <a:pPr>
              <a:spcAft>
                <a:spcPts val="1200"/>
              </a:spcAft>
              <a:defRPr sz="1600">
                <a:solidFill>
                  <a:srgbClr val="023047"/>
                </a:solidFill>
                <a:latin typeface="Calibri"/>
              </a:defRPr>
            </a:pPr>
            <a:r>
              <a:t>-  Delayed municipal reports provide no immediate guidance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