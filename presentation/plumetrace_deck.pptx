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jury and mentors. Today, we present PlumeTrace - an autonomous, closed-loop Digital Twin system designed to protect urban rivers.</a:t>
            </a:r>
          </a:p>
          <a:p/>
          <a:p>
            <a:r>
              <a:t>Across Europe, urban rivers are essential for recreation, drinking water, and ecology. Yet beneath the surface, they face sudden, unmonitored pollution events that traditional testing completely misses.</a:t>
            </a:r>
          </a:p>
          <a:p/>
          <a:p>
            <a:r>
              <a:t>Using the Pegnitz River in Nuremberg as our testbed, we demonstrate how coupling an autonomous robotic agent with a real-time predictive Digital Twin transforms water quality monitoring from blind, infrequent sampling into actionable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Pegnitz River? Because it represents four urgent pressures colliding in one urban corridor:</a:t>
            </a:r>
          </a:p>
          <a:p/>
          <a:p>
            <a:r>
              <a:t>First, Public Health: Surfers at the Fuchslochwelle wave and waders face raw sewage contamination after storms, creating immediate health risks.</a:t>
            </a:r>
          </a:p>
          <a:p>
            <a:r>
              <a:t>Second, Urban Infrastructure: Nuremberg's 1,500 km sewer network overspills during heavy rains. Modernizing a single retention basin costs between 1.5 and 5 million euros - cities cannot afford to invest blindly.</a:t>
            </a:r>
          </a:p>
          <a:p>
            <a:r>
              <a:t>Third, Agriculture: Intensive vegetable farming in Knoblauchsland leaches nitrates into alluvial drinking water aquifers under strict EU penalties.</a:t>
            </a:r>
          </a:p>
          <a:p>
            <a:r>
              <a:t>And fourth, Climate Drought: Summer heat reduces river discharge, collapsing oxygen levels below 3 mg/L and killing fish.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this, we looked at what municipal authorities currently measure.</a:t>
            </a:r>
          </a:p>
          <a:p/>
          <a:p>
            <a:r>
              <a:t>In Nuremberg, the drainage service SUN tracks eight standard parameters: temperature, pH, conductivity, turbidity, dissolved oxygen, and nutrients like ammonium, nitrate, and phosphate. Ammonium is the critical chemical fingerprint of raw sewage.</a:t>
            </a:r>
          </a:p>
          <a:p/>
          <a:p>
            <a:r>
              <a:t>The sampling gap is two-fold: automated sensors are confined to a few fixed points, while manual sampling happens as rarely as once a month with days of lab delay. The result: acute plumes arrive, cause damage, and clear completely undetected.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monitoring failure creates acute problems for our two key stakeholder groups today:</a:t>
            </a:r>
          </a:p>
          <a:p/>
          <a:p>
            <a:r>
              <a:t>First, Water Authorities like SUN and WWA: They must invest millions of euros into retention basins, but without spatial plume tracking, they are forced to invest blindly without knowing which overflow pipes cause the greatest damage. Furthermore, laboratory delays mean they only learn of acute spills days after they have already washed away.</a:t>
            </a:r>
          </a:p>
          <a:p/>
          <a:p>
            <a:r>
              <a:t>Second, Citizens and Surfers: People entering the Pegnitz at the Fuchslochwelle or in city parks have zero real-time warning. They unknowingly expose themselves to acute bacterial contamination because municipal data is either delayed by days or buried in complex chemical reports.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we designed the PlumeTrace System Architecture across three tightly synchronized tiers:</a:t>
            </a:r>
          </a:p>
          <a:p/>
          <a:p>
            <a:r>
              <a:t>On the water, our Physical Platform is a robotic surface vessel equipped with ROS 2 Jazzy, 360-degree LiDAR, tracking cameras, and emulated real-time chemical payloads.</a:t>
            </a:r>
          </a:p>
          <a:p>
            <a:r>
              <a:t>In the cloud, a Simulation Mirror running Gazebo Harmonic tracks physics and obstacles in real time, validating robot health and sensor sanity.</a:t>
            </a:r>
          </a:p>
          <a:p>
            <a:r>
              <a:t>At the command level, our 3D Digital Twin in CesiumJS visualizes Bavarian LOD2 building and river geometry, streaming live WebSocket telemetry to generate actionable heatmaps and asset health scores for city managers.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innovation of PlumeTrace is its Autonomous Closed Loop.</a:t>
            </a:r>
          </a:p>
          <a:p/>
          <a:p>
            <a:r>
              <a:t>Instead of driving a static patrol line, our system continuously recomputes waypoints based on a 4D objective function: tracking chemical gradients upstream, anticipating rain runoff via live weather radar, and ensuring older areas are revisited.</a:t>
            </a:r>
          </a:p>
          <a:p/>
          <a:p>
            <a:r>
              <a:t>Crucially, we build in industrial resilience: a dual obstacle cloud separates smooth rerouting from emergency collision stops, while onboard edge buffers guarantee zero telemetry loss even when wireless links drop.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mobile robotics decisively outperform traditional fixed monitoring networks?</a:t>
            </a:r>
          </a:p>
          <a:p/>
          <a:p>
            <a:r>
              <a:t>First, Gradient Tracing: A static sensor only tells you pollution passed by. A mobile robot follows the plume upstream directly to the faulty outfall pipe.</a:t>
            </a:r>
          </a:p>
          <a:p>
            <a:r>
              <a:t>Second, Asset Intelligence: We give water authorities concrete evidence to prioritize multi-million euro infrastructure budgets.</a:t>
            </a:r>
          </a:p>
          <a:p>
            <a:r>
              <a:t>Third, Corridor Mapping: LiDAR scans detect physical bank erosion and siltation for EU river renaturation programs.</a:t>
            </a:r>
          </a:p>
          <a:p>
            <a:r>
              <a:t>And fourth, Economics: Instead of maintaining hundreds of submerged probes prone to biofouling and flood destruction, one mobile platform delivers continuous, protected spatial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jpeg"/>
          <p:cNvPicPr>
            <a:picLocks noChangeAspect="1"/>
          </p:cNvPicPr>
          <p:nvPr/>
        </p:nvPicPr>
        <p:blipFill>
          <a:blip r:embed="rId2"/>
          <a:stretch>
            <a:fillRect/>
          </a:stretch>
        </p:blipFill>
        <p:spPr>
          <a:xfrm>
            <a:off x="1280160" y="1920240"/>
            <a:ext cx="3017520" cy="3017520"/>
          </a:xfrm>
          <a:prstGeom prst="rect">
            <a:avLst/>
          </a:prstGeom>
        </p:spPr>
      </p:pic>
      <p:sp>
        <p:nvSpPr>
          <p:cNvPr id="3" name="TextBox 2"/>
          <p:cNvSpPr txBox="1"/>
          <p:nvPr/>
        </p:nvSpPr>
        <p:spPr>
          <a:xfrm>
            <a:off x="4663440" y="2103120"/>
            <a:ext cx="6766560" cy="2743200"/>
          </a:xfrm>
          <a:prstGeom prst="rect">
            <a:avLst/>
          </a:prstGeom>
          <a:noFill/>
        </p:spPr>
        <p:txBody>
          <a:bodyPr wrap="square" anchor="ctr" lIns="0" tIns="0" rIns="0" bIns="0">
            <a:spAutoFit/>
          </a:bodyPr>
          <a:lstStyle/>
          <a:p>
            <a:pPr algn="l">
              <a:spcAft>
                <a:spcPts val="1400"/>
              </a:spcAft>
              <a:defRPr sz="6400" b="1">
                <a:solidFill>
                  <a:srgbClr val="219EBC"/>
                </a:solidFill>
                <a:latin typeface="Calibri"/>
              </a:defRPr>
            </a:pPr>
            <a:r>
              <a:t>PlumeTrace</a:t>
            </a:r>
          </a:p>
          <a:p>
            <a:pPr algn="l">
              <a:defRPr sz="2600" b="1">
                <a:solidFill>
                  <a:srgbClr val="023047"/>
                </a:solidFill>
                <a:latin typeface="Calibri"/>
              </a:defRPr>
            </a:pPr>
            <a:r>
              <a:t>Autonomous Water Protection for the Pegnitz River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822960"/>
          </a:xfrm>
          <a:prstGeom prst="rect">
            <a:avLst/>
          </a:prstGeom>
          <a:noFill/>
        </p:spPr>
        <p:txBody>
          <a:bodyPr wrap="square" anchor="t" lIns="0" tIns="0" rIns="0" bIns="0">
            <a:spAutoFit/>
          </a:bodyPr>
          <a:lstStyle/>
          <a:p>
            <a:pPr algn="l">
              <a:defRPr sz="4000" b="1">
                <a:solidFill>
                  <a:srgbClr val="023047"/>
                </a:solidFill>
                <a:latin typeface="Calibri"/>
              </a:defRPr>
            </a:pPr>
            <a:r>
              <a:t>Why Pegnitz</a:t>
            </a:r>
          </a:p>
        </p:txBody>
      </p:sp>
      <p:sp>
        <p:nvSpPr>
          <p:cNvPr id="3" name="Rounded Rectangle 2"/>
          <p:cNvSpPr/>
          <p:nvPr/>
        </p:nvSpPr>
        <p:spPr>
          <a:xfrm>
            <a:off x="731520" y="15544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Public Health</a:t>
            </a:r>
          </a:p>
          <a:p>
            <a:pPr algn="l">
              <a:spcBef>
                <a:spcPts val="0"/>
              </a:spcBef>
              <a:spcAft>
                <a:spcPts val="900"/>
              </a:spcAft>
              <a:defRPr sz="1600">
                <a:solidFill>
                  <a:srgbClr val="023047"/>
                </a:solidFill>
                <a:latin typeface="Calibri"/>
              </a:defRPr>
            </a:pPr>
            <a:r>
              <a:t>-  Raw sewage spikes after rainfall</a:t>
            </a:r>
          </a:p>
          <a:p>
            <a:pPr algn="l">
              <a:spcBef>
                <a:spcPts val="0"/>
              </a:spcBef>
              <a:spcAft>
                <a:spcPts val="900"/>
              </a:spcAft>
              <a:defRPr sz="1600">
                <a:solidFill>
                  <a:srgbClr val="023047"/>
                </a:solidFill>
                <a:latin typeface="Calibri"/>
              </a:defRPr>
            </a:pPr>
            <a:r>
              <a:t>-  Instant health risk for surfers, waders, and park visitors</a:t>
            </a:r>
          </a:p>
        </p:txBody>
      </p:sp>
      <p:sp>
        <p:nvSpPr>
          <p:cNvPr id="4" name="Rounded Rectangle 3"/>
          <p:cNvSpPr/>
          <p:nvPr/>
        </p:nvSpPr>
        <p:spPr>
          <a:xfrm>
            <a:off x="6278270" y="15544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Sewer Overflows (CSOs)</a:t>
            </a:r>
          </a:p>
          <a:p>
            <a:pPr algn="l">
              <a:spcBef>
                <a:spcPts val="0"/>
              </a:spcBef>
              <a:spcAft>
                <a:spcPts val="900"/>
              </a:spcAft>
              <a:defRPr sz="1600">
                <a:solidFill>
                  <a:srgbClr val="023047"/>
                </a:solidFill>
                <a:latin typeface="Calibri"/>
              </a:defRPr>
            </a:pPr>
            <a:r>
              <a:t>-  1,500 km municipal network overloaded by storms</a:t>
            </a:r>
          </a:p>
          <a:p>
            <a:pPr algn="l">
              <a:spcBef>
                <a:spcPts val="0"/>
              </a:spcBef>
              <a:spcAft>
                <a:spcPts val="900"/>
              </a:spcAft>
              <a:defRPr sz="1600">
                <a:solidFill>
                  <a:srgbClr val="023047"/>
                </a:solidFill>
                <a:latin typeface="Calibri"/>
              </a:defRPr>
            </a:pPr>
            <a:r>
              <a:t>-  1.5M - 5M+ EUR cost per retention basin</a:t>
            </a:r>
          </a:p>
        </p:txBody>
      </p:sp>
      <p:sp>
        <p:nvSpPr>
          <p:cNvPr id="5" name="Rounded Rectangle 4"/>
          <p:cNvSpPr/>
          <p:nvPr/>
        </p:nvSpPr>
        <p:spPr>
          <a:xfrm>
            <a:off x="731520" y="40690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Knoblauchsland Agriculture</a:t>
            </a:r>
          </a:p>
          <a:p>
            <a:pPr algn="l">
              <a:spcBef>
                <a:spcPts val="0"/>
              </a:spcBef>
              <a:spcAft>
                <a:spcPts val="900"/>
              </a:spcAft>
              <a:defRPr sz="1600">
                <a:solidFill>
                  <a:srgbClr val="023047"/>
                </a:solidFill>
                <a:latin typeface="Calibri"/>
              </a:defRPr>
            </a:pPr>
            <a:r>
              <a:t>-  Nitrate leaching into drinking water aquifers</a:t>
            </a:r>
          </a:p>
          <a:p>
            <a:pPr algn="l">
              <a:spcBef>
                <a:spcPts val="0"/>
              </a:spcBef>
              <a:spcAft>
                <a:spcPts val="900"/>
              </a:spcAft>
              <a:defRPr sz="1600">
                <a:solidFill>
                  <a:srgbClr val="023047"/>
                </a:solidFill>
                <a:latin typeface="Calibri"/>
              </a:defRPr>
            </a:pPr>
            <a:r>
              <a:t>-  Strict EU limits and compliance pressure</a:t>
            </a:r>
          </a:p>
        </p:txBody>
      </p:sp>
      <p:sp>
        <p:nvSpPr>
          <p:cNvPr id="6" name="Rounded Rectangle 5"/>
          <p:cNvSpPr/>
          <p:nvPr/>
        </p:nvSpPr>
        <p:spPr>
          <a:xfrm>
            <a:off x="6278270" y="40690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Summer Heat and Drought</a:t>
            </a:r>
          </a:p>
          <a:p>
            <a:pPr algn="l">
              <a:spcBef>
                <a:spcPts val="0"/>
              </a:spcBef>
              <a:spcAft>
                <a:spcPts val="900"/>
              </a:spcAft>
              <a:defRPr sz="1600">
                <a:solidFill>
                  <a:srgbClr val="023047"/>
                </a:solidFill>
                <a:latin typeface="Calibri"/>
              </a:defRPr>
            </a:pPr>
            <a:r>
              <a:t>-  Low flow concentrates pollutants</a:t>
            </a:r>
          </a:p>
          <a:p>
            <a:pPr algn="l">
              <a:spcBef>
                <a:spcPts val="0"/>
              </a:spcBef>
              <a:spcAft>
                <a:spcPts val="900"/>
              </a:spcAft>
              <a:defRPr sz="1600">
                <a:solidFill>
                  <a:srgbClr val="023047"/>
                </a:solidFill>
                <a:latin typeface="Calibri"/>
              </a:defRPr>
            </a:pPr>
            <a:r>
              <a:t>-  Dissolved oxygen drops &lt; 3 mg/L (fish kills)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822960"/>
          </a:xfrm>
          <a:prstGeom prst="rect">
            <a:avLst/>
          </a:prstGeom>
          <a:noFill/>
        </p:spPr>
        <p:txBody>
          <a:bodyPr wrap="square" anchor="t" lIns="0" tIns="0" rIns="0" bIns="0">
            <a:spAutoFit/>
          </a:bodyPr>
          <a:lstStyle/>
          <a:p>
            <a:pPr algn="l">
              <a:defRPr sz="4000" b="1">
                <a:solidFill>
                  <a:srgbClr val="023047"/>
                </a:solidFill>
                <a:latin typeface="Calibri"/>
              </a:defRPr>
            </a:pPr>
            <a:r>
              <a:t>Current Monitoring</a:t>
            </a:r>
          </a:p>
        </p:txBody>
      </p:sp>
      <p:sp>
        <p:nvSpPr>
          <p:cNvPr id="3" name="Rounded Rectangle 2"/>
          <p:cNvSpPr/>
          <p:nvPr/>
        </p:nvSpPr>
        <p:spPr>
          <a:xfrm>
            <a:off x="731520" y="1554480"/>
            <a:ext cx="5180990" cy="37947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400"/>
              </a:spcAft>
              <a:defRPr sz="2300" b="1">
                <a:solidFill>
                  <a:srgbClr val="023047"/>
                </a:solidFill>
                <a:latin typeface="Calibri"/>
              </a:defRPr>
            </a:pPr>
            <a:r>
              <a:t>Municipal Authorities</a:t>
            </a:r>
          </a:p>
          <a:p>
            <a:pPr algn="l">
              <a:spcBef>
                <a:spcPts val="0"/>
              </a:spcBef>
              <a:spcAft>
                <a:spcPts val="1400"/>
              </a:spcAft>
              <a:defRPr sz="1400" b="1">
                <a:solidFill>
                  <a:srgbClr val="219EBC"/>
                </a:solidFill>
                <a:latin typeface="Calibri"/>
              </a:defRPr>
            </a:pPr>
            <a:r>
              <a:t>Stadtentwässerung Nürnberg (SUN) &amp; Wasserwirtschaftsamt (WWA)</a:t>
            </a:r>
          </a:p>
          <a:p>
            <a:pPr algn="l">
              <a:spcBef>
                <a:spcPts val="0"/>
              </a:spcBef>
              <a:spcAft>
                <a:spcPts val="900"/>
              </a:spcAft>
              <a:defRPr sz="1700">
                <a:solidFill>
                  <a:srgbClr val="023047"/>
                </a:solidFill>
                <a:latin typeface="Calibri"/>
              </a:defRPr>
            </a:pPr>
            <a:r>
              <a:t>-  Temperature, pH, conductivity, turbidity</a:t>
            </a:r>
          </a:p>
          <a:p>
            <a:pPr algn="l">
              <a:spcBef>
                <a:spcPts val="0"/>
              </a:spcBef>
              <a:spcAft>
                <a:spcPts val="900"/>
              </a:spcAft>
              <a:defRPr sz="1700">
                <a:solidFill>
                  <a:srgbClr val="023047"/>
                </a:solidFill>
                <a:latin typeface="Calibri"/>
              </a:defRPr>
            </a:pPr>
            <a:r>
              <a:t>-  Dissolved oxygen and nutrients (Nitrate, Phosphate)</a:t>
            </a:r>
          </a:p>
          <a:p>
            <a:pPr algn="l">
              <a:spcBef>
                <a:spcPts val="0"/>
              </a:spcBef>
              <a:spcAft>
                <a:spcPts val="900"/>
              </a:spcAft>
              <a:defRPr sz="1700">
                <a:solidFill>
                  <a:srgbClr val="023047"/>
                </a:solidFill>
                <a:latin typeface="Calibri"/>
              </a:defRPr>
            </a:pPr>
            <a:r>
              <a:t>-  Ammonium (NH4+): primary raw sewage tracer</a:t>
            </a:r>
          </a:p>
        </p:txBody>
      </p:sp>
      <p:sp>
        <p:nvSpPr>
          <p:cNvPr id="4" name="Rounded Rectangle 3"/>
          <p:cNvSpPr/>
          <p:nvPr/>
        </p:nvSpPr>
        <p:spPr>
          <a:xfrm>
            <a:off x="6278270" y="1554480"/>
            <a:ext cx="5180990" cy="37947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300" b="1">
                <a:solidFill>
                  <a:srgbClr val="023047"/>
                </a:solidFill>
                <a:latin typeface="Calibri"/>
              </a:defRPr>
            </a:pPr>
            <a:r>
              <a:t>The Sampling Gap</a:t>
            </a:r>
          </a:p>
          <a:p>
            <a:pPr algn="l">
              <a:spcBef>
                <a:spcPts val="0"/>
              </a:spcBef>
              <a:spcAft>
                <a:spcPts val="900"/>
              </a:spcAft>
              <a:defRPr sz="1700">
                <a:solidFill>
                  <a:srgbClr val="023047"/>
                </a:solidFill>
                <a:latin typeface="Calibri"/>
              </a:defRPr>
            </a:pPr>
            <a:r>
              <a:t>-  Automatic sensors: continuous, but confined to few fixed locations</a:t>
            </a:r>
          </a:p>
          <a:p>
            <a:pPr algn="l">
              <a:spcBef>
                <a:spcPts val="0"/>
              </a:spcBef>
              <a:spcAft>
                <a:spcPts val="900"/>
              </a:spcAft>
              <a:defRPr sz="1700">
                <a:solidFill>
                  <a:srgbClr val="023047"/>
                </a:solidFill>
                <a:latin typeface="Calibri"/>
              </a:defRPr>
            </a:pPr>
            <a:r>
              <a:t>-  Manual grab sampling: often only 1x per month (24-48h lab delay)</a:t>
            </a:r>
          </a:p>
          <a:p>
            <a:pPr algn="l">
              <a:spcBef>
                <a:spcPts val="0"/>
              </a:spcBef>
              <a:spcAft>
                <a:spcPts val="900"/>
              </a:spcAft>
              <a:defRPr sz="1700">
                <a:solidFill>
                  <a:srgbClr val="023047"/>
                </a:solidFill>
                <a:latin typeface="Calibri"/>
              </a:defRPr>
            </a:pPr>
            <a:r>
              <a:t>-  Convective storm overflows: last only 2 to 4 hours</a:t>
            </a:r>
          </a:p>
        </p:txBody>
      </p:sp>
      <p:sp>
        <p:nvSpPr>
          <p:cNvPr id="5" name="Rounded Rectangle 4"/>
          <p:cNvSpPr/>
          <p:nvPr/>
        </p:nvSpPr>
        <p:spPr>
          <a:xfrm>
            <a:off x="731520" y="5577840"/>
            <a:ext cx="10728655" cy="685800"/>
          </a:xfrm>
          <a:prstGeom prst="roundRect">
            <a:avLst>
              <a:gd name="adj" fmla="val 3500"/>
            </a:avLst>
          </a:prstGeom>
          <a:solidFill>
            <a:srgbClr val="F4F9FC"/>
          </a:solidFill>
          <a:ln w="19050">
            <a:solidFill>
              <a:srgbClr val="219EB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91440"/>
          <a:lstStyle/>
          <a:p>
            <a:pPr algn="l">
              <a:defRPr sz="1800" b="1">
                <a:solidFill>
                  <a:srgbClr val="FB8500"/>
                </a:solidFill>
                <a:latin typeface="Calibri"/>
              </a:defRPr>
            </a:pPr>
            <a:r>
              <a:t>The Result:  </a:t>
            </a:r>
            <a:r>
              <a:rPr sz="1800" b="1">
                <a:solidFill>
                  <a:srgbClr val="023047"/>
                </a:solidFill>
                <a:latin typeface="Calibri"/>
              </a:rPr>
              <a:t>Plume arrives, causes harm, and clears undetected.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822960"/>
          </a:xfrm>
          <a:prstGeom prst="rect">
            <a:avLst/>
          </a:prstGeom>
          <a:noFill/>
        </p:spPr>
        <p:txBody>
          <a:bodyPr wrap="square" anchor="t" lIns="0" tIns="0" rIns="0" bIns="0">
            <a:spAutoFit/>
          </a:bodyPr>
          <a:lstStyle/>
          <a:p>
            <a:pPr algn="l">
              <a:defRPr sz="4000" b="1">
                <a:solidFill>
                  <a:srgbClr val="023047"/>
                </a:solidFill>
                <a:latin typeface="Calibri"/>
              </a:defRPr>
            </a:pPr>
            <a:r>
              <a:t>Key Stakeholders</a:t>
            </a:r>
          </a:p>
        </p:txBody>
      </p:sp>
      <p:sp>
        <p:nvSpPr>
          <p:cNvPr id="3" name="Rounded Rectangle 2"/>
          <p:cNvSpPr/>
          <p:nvPr/>
        </p:nvSpPr>
        <p:spPr>
          <a:xfrm>
            <a:off x="731520" y="1554480"/>
            <a:ext cx="5180990"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300" b="1">
                <a:solidFill>
                  <a:srgbClr val="023047"/>
                </a:solidFill>
                <a:latin typeface="Calibri"/>
              </a:defRPr>
            </a:pPr>
            <a:r>
              <a:t>Water Authorities (WWA, SUN)</a:t>
            </a:r>
          </a:p>
          <a:p>
            <a:pPr algn="l">
              <a:spcBef>
                <a:spcPts val="0"/>
              </a:spcBef>
              <a:spcAft>
                <a:spcPts val="900"/>
              </a:spcAft>
              <a:defRPr sz="1700">
                <a:solidFill>
                  <a:srgbClr val="023047"/>
                </a:solidFill>
                <a:latin typeface="Calibri"/>
              </a:defRPr>
            </a:pPr>
            <a:r>
              <a:t>-  Cannot locate pollution origin (fixed stations lack spatial tracking)</a:t>
            </a:r>
          </a:p>
          <a:p>
            <a:pPr algn="l">
              <a:spcBef>
                <a:spcPts val="0"/>
              </a:spcBef>
              <a:spcAft>
                <a:spcPts val="900"/>
              </a:spcAft>
              <a:defRPr sz="1700">
                <a:solidFill>
                  <a:srgbClr val="023047"/>
                </a:solidFill>
                <a:latin typeface="Calibri"/>
              </a:defRPr>
            </a:pPr>
            <a:r>
              <a:t>-  Blind infrastructure spending (1.5M - 5M+ EUR per basin without plume data)</a:t>
            </a:r>
          </a:p>
          <a:p>
            <a:pPr algn="l">
              <a:spcBef>
                <a:spcPts val="0"/>
              </a:spcBef>
              <a:spcAft>
                <a:spcPts val="900"/>
              </a:spcAft>
              <a:defRPr sz="1700">
                <a:solidFill>
                  <a:srgbClr val="023047"/>
                </a:solidFill>
                <a:latin typeface="Calibri"/>
              </a:defRPr>
            </a:pPr>
            <a:r>
              <a:t>-  Chronic pipe seepage undetected until structural failure</a:t>
            </a:r>
          </a:p>
          <a:p>
            <a:pPr algn="l">
              <a:spcBef>
                <a:spcPts val="0"/>
              </a:spcBef>
              <a:spcAft>
                <a:spcPts val="900"/>
              </a:spcAft>
              <a:defRPr sz="1700">
                <a:solidFill>
                  <a:srgbClr val="023047"/>
                </a:solidFill>
                <a:latin typeface="Calibri"/>
              </a:defRPr>
            </a:pPr>
            <a:r>
              <a:t>-  Lab results arrive 24-48 hours too late for emergency action</a:t>
            </a:r>
          </a:p>
        </p:txBody>
      </p:sp>
      <p:sp>
        <p:nvSpPr>
          <p:cNvPr id="4" name="Rounded Rectangle 3"/>
          <p:cNvSpPr/>
          <p:nvPr/>
        </p:nvSpPr>
        <p:spPr>
          <a:xfrm>
            <a:off x="6278270" y="1554480"/>
            <a:ext cx="5180990"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300" b="1">
                <a:solidFill>
                  <a:srgbClr val="023047"/>
                </a:solidFill>
                <a:latin typeface="Calibri"/>
              </a:defRPr>
            </a:pPr>
            <a:r>
              <a:t>Citizens and Surfers</a:t>
            </a:r>
          </a:p>
          <a:p>
            <a:pPr algn="l">
              <a:spcBef>
                <a:spcPts val="0"/>
              </a:spcBef>
              <a:spcAft>
                <a:spcPts val="900"/>
              </a:spcAft>
              <a:defRPr sz="1700">
                <a:solidFill>
                  <a:srgbClr val="023047"/>
                </a:solidFill>
                <a:latin typeface="Calibri"/>
              </a:defRPr>
            </a:pPr>
            <a:r>
              <a:t>-  Zero real-time visibility into water safety</a:t>
            </a:r>
          </a:p>
          <a:p>
            <a:pPr algn="l">
              <a:spcBef>
                <a:spcPts val="0"/>
              </a:spcBef>
              <a:spcAft>
                <a:spcPts val="900"/>
              </a:spcAft>
              <a:defRPr sz="1700">
                <a:solidFill>
                  <a:srgbClr val="023047"/>
                </a:solidFill>
                <a:latin typeface="Calibri"/>
              </a:defRPr>
            </a:pPr>
            <a:r>
              <a:t>-  Unknowingly enter water during toxic overflow events</a:t>
            </a:r>
          </a:p>
          <a:p>
            <a:pPr algn="l">
              <a:spcBef>
                <a:spcPts val="0"/>
              </a:spcBef>
              <a:spcAft>
                <a:spcPts val="900"/>
              </a:spcAft>
              <a:defRPr sz="1700">
                <a:solidFill>
                  <a:srgbClr val="023047"/>
                </a:solidFill>
                <a:latin typeface="Calibri"/>
              </a:defRPr>
            </a:pPr>
            <a:r>
              <a:t>-  High risk of gastrointestinal and skin infections</a:t>
            </a:r>
          </a:p>
          <a:p>
            <a:pPr algn="l">
              <a:spcBef>
                <a:spcPts val="0"/>
              </a:spcBef>
              <a:spcAft>
                <a:spcPts val="900"/>
              </a:spcAft>
              <a:defRPr sz="1700">
                <a:solidFill>
                  <a:srgbClr val="023047"/>
                </a:solidFill>
                <a:latin typeface="Calibri"/>
              </a:defRPr>
            </a:pPr>
            <a:r>
              <a:t>-  Delayed municipal reports provide no immediate guidance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822960"/>
          </a:xfrm>
          <a:prstGeom prst="rect">
            <a:avLst/>
          </a:prstGeom>
          <a:noFill/>
        </p:spPr>
        <p:txBody>
          <a:bodyPr wrap="square" anchor="t" lIns="0" tIns="0" rIns="0" bIns="0">
            <a:spAutoFit/>
          </a:bodyPr>
          <a:lstStyle/>
          <a:p>
            <a:pPr algn="l">
              <a:defRPr sz="4000" b="1">
                <a:solidFill>
                  <a:srgbClr val="023047"/>
                </a:solidFill>
                <a:latin typeface="Calibri"/>
              </a:defRPr>
            </a:pPr>
            <a:r>
              <a:t>System Architecture</a:t>
            </a:r>
          </a:p>
        </p:txBody>
      </p:sp>
      <p:sp>
        <p:nvSpPr>
          <p:cNvPr id="3" name="Rounded Rectangle 2"/>
          <p:cNvSpPr/>
          <p:nvPr/>
        </p:nvSpPr>
        <p:spPr>
          <a:xfrm>
            <a:off x="731520" y="1554480"/>
            <a:ext cx="3332073"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100" b="1">
                <a:solidFill>
                  <a:srgbClr val="023047"/>
                </a:solidFill>
                <a:latin typeface="Calibri"/>
              </a:defRPr>
            </a:pPr>
            <a:r>
              <a:t>Physical Platform</a:t>
            </a:r>
          </a:p>
          <a:p>
            <a:pPr algn="l">
              <a:spcBef>
                <a:spcPts val="0"/>
              </a:spcBef>
              <a:spcAft>
                <a:spcPts val="900"/>
              </a:spcAft>
              <a:defRPr sz="1500">
                <a:solidFill>
                  <a:srgbClr val="023047"/>
                </a:solidFill>
                <a:latin typeface="Calibri"/>
              </a:defRPr>
            </a:pPr>
            <a:r>
              <a:t>-  TurtleBot3 surface robotics testbed</a:t>
            </a:r>
          </a:p>
          <a:p>
            <a:pPr algn="l">
              <a:spcBef>
                <a:spcPts val="0"/>
              </a:spcBef>
              <a:spcAft>
                <a:spcPts val="900"/>
              </a:spcAft>
              <a:defRPr sz="1500">
                <a:solidFill>
                  <a:srgbClr val="023047"/>
                </a:solidFill>
                <a:latin typeface="Calibri"/>
              </a:defRPr>
            </a:pPr>
            <a:r>
              <a:t>-  ROS 2 Jazzy onboard computing</a:t>
            </a:r>
          </a:p>
          <a:p>
            <a:pPr algn="l">
              <a:spcBef>
                <a:spcPts val="0"/>
              </a:spcBef>
              <a:spcAft>
                <a:spcPts val="900"/>
              </a:spcAft>
              <a:defRPr sz="1500">
                <a:solidFill>
                  <a:srgbClr val="023047"/>
                </a:solidFill>
                <a:latin typeface="Calibri"/>
              </a:defRPr>
            </a:pPr>
            <a:r>
              <a:t>-  LDS-02 LiDAR and overhead tracking</a:t>
            </a:r>
          </a:p>
          <a:p>
            <a:pPr algn="l">
              <a:spcBef>
                <a:spcPts val="0"/>
              </a:spcBef>
              <a:spcAft>
                <a:spcPts val="900"/>
              </a:spcAft>
              <a:defRPr sz="1500">
                <a:solidFill>
                  <a:srgbClr val="023047"/>
                </a:solidFill>
                <a:latin typeface="Calibri"/>
              </a:defRPr>
            </a:pPr>
            <a:r>
              <a:t>-  Emulated chemical sensor payload</a:t>
            </a:r>
          </a:p>
        </p:txBody>
      </p:sp>
      <p:sp>
        <p:nvSpPr>
          <p:cNvPr id="4" name="Rounded Rectangle 3"/>
          <p:cNvSpPr/>
          <p:nvPr/>
        </p:nvSpPr>
        <p:spPr>
          <a:xfrm>
            <a:off x="4429353" y="1554480"/>
            <a:ext cx="3332073"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100" b="1">
                <a:solidFill>
                  <a:srgbClr val="023047"/>
                </a:solidFill>
                <a:latin typeface="Calibri"/>
              </a:defRPr>
            </a:pPr>
            <a:r>
              <a:t>Simulation Mirror</a:t>
            </a:r>
          </a:p>
          <a:p>
            <a:pPr algn="l">
              <a:spcBef>
                <a:spcPts val="0"/>
              </a:spcBef>
              <a:spcAft>
                <a:spcPts val="900"/>
              </a:spcAft>
              <a:defRPr sz="1500">
                <a:solidFill>
                  <a:srgbClr val="023047"/>
                </a:solidFill>
                <a:latin typeface="Calibri"/>
              </a:defRPr>
            </a:pPr>
            <a:r>
              <a:t>-  Gazebo Harmonic physics engine</a:t>
            </a:r>
          </a:p>
          <a:p>
            <a:pPr algn="l">
              <a:spcBef>
                <a:spcPts val="0"/>
              </a:spcBef>
              <a:spcAft>
                <a:spcPts val="900"/>
              </a:spcAft>
              <a:defRPr sz="1500">
                <a:solidFill>
                  <a:srgbClr val="023047"/>
                </a:solidFill>
                <a:latin typeface="Calibri"/>
              </a:defRPr>
            </a:pPr>
            <a:r>
              <a:t>-  Bi-directional ROS-Gazebo bridge</a:t>
            </a:r>
          </a:p>
          <a:p>
            <a:pPr algn="l">
              <a:spcBef>
                <a:spcPts val="0"/>
              </a:spcBef>
              <a:spcAft>
                <a:spcPts val="900"/>
              </a:spcAft>
              <a:defRPr sz="1500">
                <a:solidFill>
                  <a:srgbClr val="023047"/>
                </a:solidFill>
                <a:latin typeface="Calibri"/>
              </a:defRPr>
            </a:pPr>
            <a:r>
              <a:t>-  Ghost follower pose tracking</a:t>
            </a:r>
          </a:p>
          <a:p>
            <a:pPr algn="l">
              <a:spcBef>
                <a:spcPts val="0"/>
              </a:spcBef>
              <a:spcAft>
                <a:spcPts val="900"/>
              </a:spcAft>
              <a:defRPr sz="1500">
                <a:solidFill>
                  <a:srgbClr val="023047"/>
                </a:solidFill>
                <a:latin typeface="Calibri"/>
              </a:defRPr>
            </a:pPr>
            <a:r>
              <a:t>-  Dynamic obstacle injection</a:t>
            </a:r>
          </a:p>
        </p:txBody>
      </p:sp>
      <p:sp>
        <p:nvSpPr>
          <p:cNvPr id="5" name="Rounded Rectangle 4"/>
          <p:cNvSpPr/>
          <p:nvPr/>
        </p:nvSpPr>
        <p:spPr>
          <a:xfrm>
            <a:off x="8127186" y="1554480"/>
            <a:ext cx="3332073"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100" b="1">
                <a:solidFill>
                  <a:srgbClr val="023047"/>
                </a:solidFill>
                <a:latin typeface="Calibri"/>
              </a:defRPr>
            </a:pPr>
            <a:r>
              <a:t>3D Digital Twin</a:t>
            </a:r>
          </a:p>
          <a:p>
            <a:pPr algn="l">
              <a:spcBef>
                <a:spcPts val="0"/>
              </a:spcBef>
              <a:spcAft>
                <a:spcPts val="900"/>
              </a:spcAft>
              <a:defRPr sz="1500">
                <a:solidFill>
                  <a:srgbClr val="023047"/>
                </a:solidFill>
                <a:latin typeface="Calibri"/>
              </a:defRPr>
            </a:pPr>
            <a:r>
              <a:t>-  CesiumJS with Bavarian LOD2 3D data</a:t>
            </a:r>
          </a:p>
          <a:p>
            <a:pPr algn="l">
              <a:spcBef>
                <a:spcPts val="0"/>
              </a:spcBef>
              <a:spcAft>
                <a:spcPts val="900"/>
              </a:spcAft>
              <a:defRPr sz="1500">
                <a:solidFill>
                  <a:srgbClr val="023047"/>
                </a:solidFill>
                <a:latin typeface="Calibri"/>
              </a:defRPr>
            </a:pPr>
            <a:r>
              <a:t>-  Real-time WebSocket telemetry stream</a:t>
            </a:r>
          </a:p>
          <a:p>
            <a:pPr algn="l">
              <a:spcBef>
                <a:spcPts val="0"/>
              </a:spcBef>
              <a:spcAft>
                <a:spcPts val="900"/>
              </a:spcAft>
              <a:defRPr sz="1500">
                <a:solidFill>
                  <a:srgbClr val="023047"/>
                </a:solidFill>
                <a:latin typeface="Calibri"/>
              </a:defRPr>
            </a:pPr>
            <a:r>
              <a:t>-  Geo-referenced pipe outfall health</a:t>
            </a:r>
          </a:p>
          <a:p>
            <a:pPr algn="l">
              <a:spcBef>
                <a:spcPts val="0"/>
              </a:spcBef>
              <a:spcAft>
                <a:spcPts val="900"/>
              </a:spcAft>
              <a:defRPr sz="1500">
                <a:solidFill>
                  <a:srgbClr val="023047"/>
                </a:solidFill>
                <a:latin typeface="Calibri"/>
              </a:defRPr>
            </a:pPr>
            <a:r>
              <a:t>-  Interactive urban risk heatmaps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822960"/>
          </a:xfrm>
          <a:prstGeom prst="rect">
            <a:avLst/>
          </a:prstGeom>
          <a:noFill/>
        </p:spPr>
        <p:txBody>
          <a:bodyPr wrap="square" anchor="t" lIns="0" tIns="0" rIns="0" bIns="0">
            <a:spAutoFit/>
          </a:bodyPr>
          <a:lstStyle/>
          <a:p>
            <a:pPr algn="l">
              <a:defRPr sz="4000" b="1">
                <a:solidFill>
                  <a:srgbClr val="023047"/>
                </a:solidFill>
                <a:latin typeface="Calibri"/>
              </a:defRPr>
            </a:pPr>
            <a:r>
              <a:t>Autonomous Closed Loop</a:t>
            </a:r>
          </a:p>
        </p:txBody>
      </p:sp>
      <p:sp>
        <p:nvSpPr>
          <p:cNvPr id="3" name="Rounded Rectangle 2"/>
          <p:cNvSpPr/>
          <p:nvPr/>
        </p:nvSpPr>
        <p:spPr>
          <a:xfrm>
            <a:off x="731520" y="1554480"/>
            <a:ext cx="5180990"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300" b="1">
                <a:solidFill>
                  <a:srgbClr val="023047"/>
                </a:solidFill>
                <a:latin typeface="Calibri"/>
              </a:defRPr>
            </a:pPr>
            <a:r>
              <a:t>4D Adaptive Retasking</a:t>
            </a:r>
          </a:p>
          <a:p>
            <a:pPr algn="l">
              <a:spcBef>
                <a:spcPts val="0"/>
              </a:spcBef>
              <a:spcAft>
                <a:spcPts val="900"/>
              </a:spcAft>
              <a:defRPr sz="1700">
                <a:solidFill>
                  <a:srgbClr val="023047"/>
                </a:solidFill>
                <a:latin typeface="Calibri"/>
              </a:defRPr>
            </a:pPr>
            <a:r>
              <a:t>-  Dynamically recomputes waypoints in real time</a:t>
            </a:r>
          </a:p>
          <a:p>
            <a:pPr algn="l">
              <a:spcBef>
                <a:spcPts val="0"/>
              </a:spcBef>
              <a:spcAft>
                <a:spcPts val="900"/>
              </a:spcAft>
              <a:defRPr sz="1700">
                <a:solidFill>
                  <a:srgbClr val="023047"/>
                </a:solidFill>
                <a:latin typeface="Calibri"/>
              </a:defRPr>
            </a:pPr>
            <a:r>
              <a:t>-  Chemical Gradient: homes upstream to leaking pipe</a:t>
            </a:r>
          </a:p>
          <a:p>
            <a:pPr algn="l">
              <a:spcBef>
                <a:spcPts val="0"/>
              </a:spcBef>
              <a:spcAft>
                <a:spcPts val="900"/>
              </a:spcAft>
              <a:defRPr sz="1700">
                <a:solidFill>
                  <a:srgbClr val="023047"/>
                </a:solidFill>
                <a:latin typeface="Calibri"/>
              </a:defRPr>
            </a:pPr>
            <a:r>
              <a:t>-  Rain Radar: pre-positions robot before storm runoff</a:t>
            </a:r>
          </a:p>
          <a:p>
            <a:pPr algn="l">
              <a:spcBef>
                <a:spcPts val="0"/>
              </a:spcBef>
              <a:spcAft>
                <a:spcPts val="900"/>
              </a:spcAft>
              <a:defRPr sz="1700">
                <a:solidFill>
                  <a:srgbClr val="023047"/>
                </a:solidFill>
                <a:latin typeface="Calibri"/>
              </a:defRPr>
            </a:pPr>
            <a:r>
              <a:t>-  Data Freshness: prioritizes unvisited river reaches</a:t>
            </a:r>
          </a:p>
        </p:txBody>
      </p:sp>
      <p:sp>
        <p:nvSpPr>
          <p:cNvPr id="4" name="Rounded Rectangle 3"/>
          <p:cNvSpPr/>
          <p:nvPr/>
        </p:nvSpPr>
        <p:spPr>
          <a:xfrm>
            <a:off x="6278270" y="1554480"/>
            <a:ext cx="5180990" cy="470916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300" b="1">
                <a:solidFill>
                  <a:srgbClr val="023047"/>
                </a:solidFill>
                <a:latin typeface="Calibri"/>
              </a:defRPr>
            </a:pPr>
            <a:r>
              <a:t>Safety and Resilience</a:t>
            </a:r>
          </a:p>
          <a:p>
            <a:pPr algn="l">
              <a:spcBef>
                <a:spcPts val="0"/>
              </a:spcBef>
              <a:spcAft>
                <a:spcPts val="900"/>
              </a:spcAft>
              <a:defRPr sz="1700">
                <a:solidFill>
                  <a:srgbClr val="023047"/>
                </a:solidFill>
                <a:latin typeface="Calibri"/>
              </a:defRPr>
            </a:pPr>
            <a:r>
              <a:t>-  Dual obstacle cloud: reroute navigation vs collision stop</a:t>
            </a:r>
          </a:p>
          <a:p>
            <a:pPr algn="l">
              <a:spcBef>
                <a:spcPts val="0"/>
              </a:spcBef>
              <a:spcAft>
                <a:spcPts val="900"/>
              </a:spcAft>
              <a:defRPr sz="1700">
                <a:solidFill>
                  <a:srgbClr val="023047"/>
                </a:solidFill>
                <a:latin typeface="Calibri"/>
              </a:defRPr>
            </a:pPr>
            <a:r>
              <a:t>-  Edge buffer: zero data loss during network dropouts</a:t>
            </a:r>
          </a:p>
          <a:p>
            <a:pPr algn="l">
              <a:spcBef>
                <a:spcPts val="0"/>
              </a:spcBef>
              <a:spcAft>
                <a:spcPts val="900"/>
              </a:spcAft>
              <a:defRPr sz="1700">
                <a:solidFill>
                  <a:srgbClr val="023047"/>
                </a:solidFill>
                <a:latin typeface="Calibri"/>
              </a:defRPr>
            </a:pPr>
            <a:r>
              <a:t>-  Tri-fold sync: odometry, AMCL, and Gazebo alignment</a:t>
            </a:r>
          </a:p>
          <a:p>
            <a:pPr algn="l">
              <a:spcBef>
                <a:spcPts val="0"/>
              </a:spcBef>
              <a:spcAft>
                <a:spcPts val="900"/>
              </a:spcAft>
              <a:defRPr sz="1700">
                <a:solidFill>
                  <a:srgbClr val="023047"/>
                </a:solidFill>
                <a:latin typeface="Calibri"/>
              </a:defRPr>
            </a:pPr>
            <a:r>
              <a:t>-  Dynamic Nav2 goal updates in under 35 seconds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822960"/>
          </a:xfrm>
          <a:prstGeom prst="rect">
            <a:avLst/>
          </a:prstGeom>
          <a:noFill/>
        </p:spPr>
        <p:txBody>
          <a:bodyPr wrap="square" anchor="t" lIns="0" tIns="0" rIns="0" bIns="0">
            <a:spAutoFit/>
          </a:bodyPr>
          <a:lstStyle/>
          <a:p>
            <a:pPr algn="l">
              <a:defRPr sz="4000" b="1">
                <a:solidFill>
                  <a:srgbClr val="023047"/>
                </a:solidFill>
                <a:latin typeface="Calibri"/>
              </a:defRPr>
            </a:pPr>
            <a:r>
              <a:t>Why Mobile Robotics?</a:t>
            </a:r>
          </a:p>
        </p:txBody>
      </p:sp>
      <p:sp>
        <p:nvSpPr>
          <p:cNvPr id="3" name="Rounded Rectangle 2"/>
          <p:cNvSpPr/>
          <p:nvPr/>
        </p:nvSpPr>
        <p:spPr>
          <a:xfrm>
            <a:off x="731520" y="15544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Gradient Tracing</a:t>
            </a:r>
          </a:p>
          <a:p>
            <a:pPr algn="l">
              <a:spcBef>
                <a:spcPts val="0"/>
              </a:spcBef>
              <a:spcAft>
                <a:spcPts val="900"/>
              </a:spcAft>
              <a:defRPr sz="1600">
                <a:solidFill>
                  <a:srgbClr val="023047"/>
                </a:solidFill>
                <a:latin typeface="Calibri"/>
              </a:defRPr>
            </a:pPr>
            <a:r>
              <a:t>-  Tracks concentration gradients upstream</a:t>
            </a:r>
          </a:p>
          <a:p>
            <a:pPr algn="l">
              <a:spcBef>
                <a:spcPts val="0"/>
              </a:spcBef>
              <a:spcAft>
                <a:spcPts val="900"/>
              </a:spcAft>
              <a:defRPr sz="1600">
                <a:solidFill>
                  <a:srgbClr val="023047"/>
                </a:solidFill>
                <a:latin typeface="Calibri"/>
              </a:defRPr>
            </a:pPr>
            <a:r>
              <a:t>-  Locates exact leaking pipe instead of diluted mix</a:t>
            </a:r>
          </a:p>
        </p:txBody>
      </p:sp>
      <p:sp>
        <p:nvSpPr>
          <p:cNvPr id="4" name="Rounded Rectangle 3"/>
          <p:cNvSpPr/>
          <p:nvPr/>
        </p:nvSpPr>
        <p:spPr>
          <a:xfrm>
            <a:off x="6278270" y="15544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Asset Intelligence</a:t>
            </a:r>
          </a:p>
          <a:p>
            <a:pPr algn="l">
              <a:spcBef>
                <a:spcPts val="0"/>
              </a:spcBef>
              <a:spcAft>
                <a:spcPts val="900"/>
              </a:spcAft>
              <a:defRPr sz="1600">
                <a:solidFill>
                  <a:srgbClr val="023047"/>
                </a:solidFill>
                <a:latin typeface="Calibri"/>
              </a:defRPr>
            </a:pPr>
            <a:r>
              <a:t>-  Links water chemistry to specific municipal outfall IDs</a:t>
            </a:r>
          </a:p>
          <a:p>
            <a:pPr algn="l">
              <a:spcBef>
                <a:spcPts val="0"/>
              </a:spcBef>
              <a:spcAft>
                <a:spcPts val="900"/>
              </a:spcAft>
              <a:defRPr sz="1600">
                <a:solidFill>
                  <a:srgbClr val="023047"/>
                </a:solidFill>
                <a:latin typeface="Calibri"/>
              </a:defRPr>
            </a:pPr>
            <a:r>
              <a:t>-  Direct evidence for multi-million EUR basin upgrades</a:t>
            </a:r>
          </a:p>
        </p:txBody>
      </p:sp>
      <p:sp>
        <p:nvSpPr>
          <p:cNvPr id="5" name="Rounded Rectangle 4"/>
          <p:cNvSpPr/>
          <p:nvPr/>
        </p:nvSpPr>
        <p:spPr>
          <a:xfrm>
            <a:off x="731520" y="40690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River Corridor Mapping</a:t>
            </a:r>
          </a:p>
          <a:p>
            <a:pPr algn="l">
              <a:spcBef>
                <a:spcPts val="0"/>
              </a:spcBef>
              <a:spcAft>
                <a:spcPts val="900"/>
              </a:spcAft>
              <a:defRPr sz="1600">
                <a:solidFill>
                  <a:srgbClr val="023047"/>
                </a:solidFill>
                <a:latin typeface="Calibri"/>
              </a:defRPr>
            </a:pPr>
            <a:r>
              <a:t>-  LiDAR detects riverbank erosion and sediment build-up</a:t>
            </a:r>
          </a:p>
          <a:p>
            <a:pPr algn="l">
              <a:spcBef>
                <a:spcPts val="0"/>
              </a:spcBef>
              <a:spcAft>
                <a:spcPts val="900"/>
              </a:spcAft>
              <a:defRPr sz="1600">
                <a:solidFill>
                  <a:srgbClr val="023047"/>
                </a:solidFill>
                <a:latin typeface="Calibri"/>
              </a:defRPr>
            </a:pPr>
            <a:r>
              <a:t>-  Supports EU renaturation compliance</a:t>
            </a:r>
          </a:p>
        </p:txBody>
      </p:sp>
      <p:sp>
        <p:nvSpPr>
          <p:cNvPr id="6" name="Rounded Rectangle 5"/>
          <p:cNvSpPr/>
          <p:nvPr/>
        </p:nvSpPr>
        <p:spPr>
          <a:xfrm>
            <a:off x="6278270" y="4069080"/>
            <a:ext cx="5180990" cy="2240280"/>
          </a:xfrm>
          <a:prstGeom prst="roundRect">
            <a:avLst>
              <a:gd name="adj" fmla="val 3500"/>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228600"/>
          <a:lstStyle/>
          <a:p>
            <a:pPr algn="l">
              <a:spcBef>
                <a:spcPts val="0"/>
              </a:spcBef>
              <a:spcAft>
                <a:spcPts val="1200"/>
              </a:spcAft>
              <a:defRPr sz="2200" b="1">
                <a:solidFill>
                  <a:srgbClr val="023047"/>
                </a:solidFill>
                <a:latin typeface="Calibri"/>
              </a:defRPr>
            </a:pPr>
            <a:r>
              <a:t>Operational Economics</a:t>
            </a:r>
          </a:p>
          <a:p>
            <a:pPr algn="l">
              <a:spcBef>
                <a:spcPts val="0"/>
              </a:spcBef>
              <a:spcAft>
                <a:spcPts val="900"/>
              </a:spcAft>
              <a:defRPr sz="1600">
                <a:solidFill>
                  <a:srgbClr val="023047"/>
                </a:solidFill>
                <a:latin typeface="Calibri"/>
              </a:defRPr>
            </a:pPr>
            <a:r>
              <a:t>-  One self-cleaning mobile robot replaces 50+ fixed probes</a:t>
            </a:r>
          </a:p>
          <a:p>
            <a:pPr algn="l">
              <a:spcBef>
                <a:spcPts val="0"/>
              </a:spcBef>
              <a:spcAft>
                <a:spcPts val="900"/>
              </a:spcAft>
              <a:defRPr sz="1600">
                <a:solidFill>
                  <a:srgbClr val="023047"/>
                </a:solidFill>
                <a:latin typeface="Calibri"/>
              </a:defRPr>
            </a:pPr>
            <a:r>
              <a:t>-  Eliminates biofouling and flood destruction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